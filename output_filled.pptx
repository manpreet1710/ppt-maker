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Decalotype Bold" charset="1" panose="00000800000000000000"/>
      <p:regular r:id="rId27"/>
    </p:embeddedFont>
    <p:embeddedFont>
      <p:font typeface="Aileron" charset="1" panose="00000500000000000000"/>
      <p:regular r:id="rId28"/>
    </p:embeddedFont>
    <p:embeddedFont>
      <p:font typeface="Aileron Bold" charset="1" panose="00000800000000000000"/>
      <p:regular r:id="rId29"/>
    </p:embeddedFont>
    <p:embeddedFont>
      <p:font typeface="Decalotype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6670" t="-66514" r="-4626" b="-3043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0" y="0"/>
            <a:ext cx="3925039" cy="2815438"/>
            <a:chOff x="0" y="0"/>
            <a:chExt cx="6974722" cy="50029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74722" cy="5002981"/>
            </a:xfrm>
            <a:custGeom>
              <a:avLst/>
              <a:gdLst/>
              <a:ahLst/>
              <a:cxnLst/>
              <a:rect r="r" b="b" t="t" l="l"/>
              <a:pathLst>
                <a:path h="5002981" w="6974722">
                  <a:moveTo>
                    <a:pt x="0" y="5002981"/>
                  </a:moveTo>
                  <a:lnTo>
                    <a:pt x="6974722" y="5002981"/>
                  </a:lnTo>
                  <a:lnTo>
                    <a:pt x="6974722" y="0"/>
                  </a:lnTo>
                  <a:cubicBezTo>
                    <a:pt x="3123280" y="0"/>
                    <a:pt x="0" y="2240335"/>
                    <a:pt x="0" y="5002981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4831008"/>
            <a:ext cx="7282096" cy="553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8"/>
              </a:lnSpc>
            </a:pPr>
            <a:r>
              <a:t>Defining Cybersecurity</a:t>
            </a:r>
          </a:p>
          <a:p>
            <a:pPr lvl="1"/>
            <a:r>
              <a:t>Protecting systems, networks, and data from digital attacks.</a:t>
            </a:r>
          </a:p>
          <a:p>
            <a:pPr/>
            <a:r>
              <a:t>Why It Matters Now</a:t>
            </a:r>
          </a:p>
          <a:p>
            <a:pPr lvl="1"/>
            <a:r>
              <a:t>Increased reliance on technology and interconnectedness.</a:t>
            </a:r>
          </a:p>
          <a:p>
            <a:pPr lvl="1"/>
            <a:r>
              <a:t>Growing sophistication of cyber threats.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F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9488" y="1837770"/>
            <a:ext cx="7108847" cy="123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t>Common Threat Types</a:t>
            </a:r>
          </a:p>
          <a:p>
            <a:pPr lvl="1"/>
            <a:r>
              <a:t>Malware (viruses, ransomware).</a:t>
            </a:r>
          </a:p>
          <a:p>
            <a:pPr lvl="1"/>
            <a:r>
              <a:t>Phishing attacks.</a:t>
            </a:r>
          </a:p>
          <a:p>
            <a:pPr lvl="1"/>
            <a:r>
              <a:t>Data breaches.</a:t>
            </a:r>
          </a:p>
          <a:p>
            <a:pPr/>
            <a:r>
              <a:t>Impact of Cyber Attacks</a:t>
            </a:r>
          </a:p>
          <a:p>
            <a:pPr lvl="1"/>
            <a:r>
              <a:t>Financial losses.</a:t>
            </a:r>
          </a:p>
          <a:p>
            <a:pPr lvl="1"/>
            <a:r>
              <a:t>Reputational damage.</a:t>
            </a:r>
          </a:p>
          <a:p>
            <a:pPr lvl="1"/>
            <a:r>
              <a:t>Operational disruptions.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3006" y="3591439"/>
            <a:ext cx="7945506" cy="1282714"/>
            <a:chOff x="0" y="0"/>
            <a:chExt cx="812800" cy="1312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31218"/>
            </a:xfrm>
            <a:custGeom>
              <a:avLst/>
              <a:gdLst/>
              <a:ahLst/>
              <a:cxnLst/>
              <a:rect r="r" b="b" t="t" l="l"/>
              <a:pathLst>
                <a:path h="1312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1218"/>
                  </a:lnTo>
                  <a:lnTo>
                    <a:pt x="0" y="131218"/>
                  </a:lnTo>
                  <a:close/>
                </a:path>
              </a:pathLst>
            </a:custGeom>
            <a:solidFill>
              <a:srgbClr val="012B1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812800" cy="15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939385" y="3994671"/>
            <a:ext cx="566545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none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Content Mission, Vision, &amp; Goals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591439"/>
            <a:ext cx="7945506" cy="1282714"/>
            <a:chOff x="0" y="0"/>
            <a:chExt cx="812800" cy="1312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31218"/>
            </a:xfrm>
            <a:custGeom>
              <a:avLst/>
              <a:gdLst/>
              <a:ahLst/>
              <a:cxnLst/>
              <a:rect r="r" b="b" t="t" l="l"/>
              <a:pathLst>
                <a:path h="1312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1218"/>
                  </a:lnTo>
                  <a:lnTo>
                    <a:pt x="0" y="131218"/>
                  </a:lnTo>
                  <a:close/>
                </a:path>
              </a:pathLst>
            </a:custGeom>
            <a:solidFill>
              <a:srgbClr val="012B1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12800" cy="15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591439"/>
            <a:ext cx="1282714" cy="1282714"/>
            <a:chOff x="0" y="0"/>
            <a:chExt cx="1336129" cy="13361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6129" cy="1336129"/>
            </a:xfrm>
            <a:custGeom>
              <a:avLst/>
              <a:gdLst/>
              <a:ahLst/>
              <a:cxnLst/>
              <a:rect r="r" b="b" t="t" l="l"/>
              <a:pathLst>
                <a:path h="1336129" w="1336129">
                  <a:moveTo>
                    <a:pt x="0" y="0"/>
                  </a:moveTo>
                  <a:lnTo>
                    <a:pt x="1336129" y="0"/>
                  </a:lnTo>
                  <a:lnTo>
                    <a:pt x="1336129" y="1336129"/>
                  </a:lnTo>
                  <a:lnTo>
                    <a:pt x="0" y="1336129"/>
                  </a:lnTo>
                  <a:close/>
                </a:path>
              </a:pathLst>
            </a:custGeom>
            <a:solidFill>
              <a:srgbClr val="29C97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36129" cy="1383754"/>
            </a:xfrm>
            <a:prstGeom prst="rect">
              <a:avLst/>
            </a:prstGeom>
          </p:spPr>
          <p:txBody>
            <a:bodyPr anchor="ctr" rtlCol="false" tIns="54971" lIns="54971" bIns="54971" rIns="54971"/>
            <a:lstStyle/>
            <a:p>
              <a:pPr algn="ctr">
                <a:lnSpc>
                  <a:spcPts val="3779"/>
                </a:lnSpc>
              </a:pPr>
              <a:r>
                <a:rPr lang="en-US" b="true" sz="2699" spc="272">
                  <a:solidFill>
                    <a:srgbClr val="012B1B"/>
                  </a:solidFill>
                  <a:latin typeface="Decalotype Bold"/>
                  <a:ea typeface="Decalotype Bold"/>
                  <a:cs typeface="Decalotype Bold"/>
                  <a:sym typeface="Decalotype Bold"/>
                </a:rPr>
                <a:t>01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675080" y="3994671"/>
            <a:ext cx="54230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sng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  <a:hlinkClick r:id="rId2" action="ppaction://hlinksldjump"/>
              </a:rPr>
              <a:t>Background &amp; Purpose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5063595"/>
            <a:ext cx="7945506" cy="1282714"/>
            <a:chOff x="0" y="0"/>
            <a:chExt cx="812800" cy="1312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31218"/>
            </a:xfrm>
            <a:custGeom>
              <a:avLst/>
              <a:gdLst/>
              <a:ahLst/>
              <a:cxnLst/>
              <a:rect r="r" b="b" t="t" l="l"/>
              <a:pathLst>
                <a:path h="1312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1218"/>
                  </a:lnTo>
                  <a:lnTo>
                    <a:pt x="0" y="131218"/>
                  </a:lnTo>
                  <a:close/>
                </a:path>
              </a:pathLst>
            </a:custGeom>
            <a:solidFill>
              <a:srgbClr val="012B1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12800" cy="15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5063595"/>
            <a:ext cx="1282714" cy="1282714"/>
            <a:chOff x="0" y="0"/>
            <a:chExt cx="1336129" cy="13361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6129" cy="1336129"/>
            </a:xfrm>
            <a:custGeom>
              <a:avLst/>
              <a:gdLst/>
              <a:ahLst/>
              <a:cxnLst/>
              <a:rect r="r" b="b" t="t" l="l"/>
              <a:pathLst>
                <a:path h="1336129" w="1336129">
                  <a:moveTo>
                    <a:pt x="0" y="0"/>
                  </a:moveTo>
                  <a:lnTo>
                    <a:pt x="1336129" y="0"/>
                  </a:lnTo>
                  <a:lnTo>
                    <a:pt x="1336129" y="1336129"/>
                  </a:lnTo>
                  <a:lnTo>
                    <a:pt x="0" y="1336129"/>
                  </a:lnTo>
                  <a:close/>
                </a:path>
              </a:pathLst>
            </a:custGeom>
            <a:solidFill>
              <a:srgbClr val="29C97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36129" cy="1383754"/>
            </a:xfrm>
            <a:prstGeom prst="rect">
              <a:avLst/>
            </a:prstGeom>
          </p:spPr>
          <p:txBody>
            <a:bodyPr anchor="ctr" rtlCol="false" tIns="54971" lIns="54971" bIns="54971" rIns="54971"/>
            <a:lstStyle/>
            <a:p>
              <a:pPr algn="ctr">
                <a:lnSpc>
                  <a:spcPts val="3779"/>
                </a:lnSpc>
              </a:pPr>
              <a:r>
                <a:rPr lang="en-US" b="true" sz="2699" spc="272">
                  <a:solidFill>
                    <a:srgbClr val="012B1B"/>
                  </a:solidFill>
                  <a:latin typeface="Decalotype Bold"/>
                  <a:ea typeface="Decalotype Bold"/>
                  <a:cs typeface="Decalotype Bold"/>
                  <a:sym typeface="Decalotype Bold"/>
                </a:rPr>
                <a:t>02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675080" y="5466827"/>
            <a:ext cx="54230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none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Market &amp; Trends Analysis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8700" y="6535751"/>
            <a:ext cx="7945506" cy="1282714"/>
            <a:chOff x="0" y="0"/>
            <a:chExt cx="812800" cy="1312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131218"/>
            </a:xfrm>
            <a:custGeom>
              <a:avLst/>
              <a:gdLst/>
              <a:ahLst/>
              <a:cxnLst/>
              <a:rect r="r" b="b" t="t" l="l"/>
              <a:pathLst>
                <a:path h="1312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1218"/>
                  </a:lnTo>
                  <a:lnTo>
                    <a:pt x="0" y="131218"/>
                  </a:lnTo>
                  <a:close/>
                </a:path>
              </a:pathLst>
            </a:custGeom>
            <a:solidFill>
              <a:srgbClr val="012B1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812800" cy="15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6535751"/>
            <a:ext cx="1282714" cy="1282714"/>
            <a:chOff x="0" y="0"/>
            <a:chExt cx="1336129" cy="13361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36129" cy="1336129"/>
            </a:xfrm>
            <a:custGeom>
              <a:avLst/>
              <a:gdLst/>
              <a:ahLst/>
              <a:cxnLst/>
              <a:rect r="r" b="b" t="t" l="l"/>
              <a:pathLst>
                <a:path h="1336129" w="1336129">
                  <a:moveTo>
                    <a:pt x="0" y="0"/>
                  </a:moveTo>
                  <a:lnTo>
                    <a:pt x="1336129" y="0"/>
                  </a:lnTo>
                  <a:lnTo>
                    <a:pt x="1336129" y="1336129"/>
                  </a:lnTo>
                  <a:lnTo>
                    <a:pt x="0" y="1336129"/>
                  </a:lnTo>
                  <a:close/>
                </a:path>
              </a:pathLst>
            </a:custGeom>
            <a:solidFill>
              <a:srgbClr val="29C97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336129" cy="1383754"/>
            </a:xfrm>
            <a:prstGeom prst="rect">
              <a:avLst/>
            </a:prstGeom>
          </p:spPr>
          <p:txBody>
            <a:bodyPr anchor="ctr" rtlCol="false" tIns="54971" lIns="54971" bIns="54971" rIns="54971"/>
            <a:lstStyle/>
            <a:p>
              <a:pPr algn="ctr">
                <a:lnSpc>
                  <a:spcPts val="3779"/>
                </a:lnSpc>
              </a:pPr>
              <a:r>
                <a:rPr lang="en-US" b="true" sz="2699" spc="272">
                  <a:solidFill>
                    <a:srgbClr val="012B1B"/>
                  </a:solidFill>
                  <a:latin typeface="Decalotype Bold"/>
                  <a:ea typeface="Decalotype Bold"/>
                  <a:cs typeface="Decalotype Bold"/>
                  <a:sym typeface="Decalotype Bold"/>
                </a:rPr>
                <a:t>03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675080" y="6938983"/>
            <a:ext cx="54230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none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Strategic Approach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93006" y="5063595"/>
            <a:ext cx="7945506" cy="1282714"/>
            <a:chOff x="0" y="0"/>
            <a:chExt cx="812800" cy="13121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131218"/>
            </a:xfrm>
            <a:custGeom>
              <a:avLst/>
              <a:gdLst/>
              <a:ahLst/>
              <a:cxnLst/>
              <a:rect r="r" b="b" t="t" l="l"/>
              <a:pathLst>
                <a:path h="1312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1218"/>
                  </a:lnTo>
                  <a:lnTo>
                    <a:pt x="0" y="131218"/>
                  </a:lnTo>
                  <a:close/>
                </a:path>
              </a:pathLst>
            </a:custGeom>
            <a:solidFill>
              <a:srgbClr val="012B1B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812800" cy="15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93006" y="5063595"/>
            <a:ext cx="1257283" cy="1282714"/>
            <a:chOff x="0" y="0"/>
            <a:chExt cx="1309640" cy="133612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09640" cy="1336129"/>
            </a:xfrm>
            <a:custGeom>
              <a:avLst/>
              <a:gdLst/>
              <a:ahLst/>
              <a:cxnLst/>
              <a:rect r="r" b="b" t="t" l="l"/>
              <a:pathLst>
                <a:path h="1336129" w="1309640">
                  <a:moveTo>
                    <a:pt x="0" y="0"/>
                  </a:moveTo>
                  <a:lnTo>
                    <a:pt x="1309640" y="0"/>
                  </a:lnTo>
                  <a:lnTo>
                    <a:pt x="1309640" y="1336129"/>
                  </a:lnTo>
                  <a:lnTo>
                    <a:pt x="0" y="1336129"/>
                  </a:lnTo>
                  <a:close/>
                </a:path>
              </a:pathLst>
            </a:custGeom>
            <a:solidFill>
              <a:srgbClr val="29C97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309640" cy="1383754"/>
            </a:xfrm>
            <a:prstGeom prst="rect">
              <a:avLst/>
            </a:prstGeom>
          </p:spPr>
          <p:txBody>
            <a:bodyPr anchor="ctr" rtlCol="false" tIns="54971" lIns="54971" bIns="54971" rIns="54971"/>
            <a:lstStyle/>
            <a:p>
              <a:pPr algn="ctr">
                <a:lnSpc>
                  <a:spcPts val="3779"/>
                </a:lnSpc>
              </a:pPr>
              <a:r>
                <a:rPr lang="en-US" b="true" sz="2699" spc="272">
                  <a:solidFill>
                    <a:srgbClr val="012B1B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05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939385" y="5466827"/>
            <a:ext cx="54230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none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Content Plan &amp; Deliverables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93006" y="6536809"/>
            <a:ext cx="7945506" cy="1282714"/>
            <a:chOff x="0" y="0"/>
            <a:chExt cx="812800" cy="13121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131218"/>
            </a:xfrm>
            <a:custGeom>
              <a:avLst/>
              <a:gdLst/>
              <a:ahLst/>
              <a:cxnLst/>
              <a:rect r="r" b="b" t="t" l="l"/>
              <a:pathLst>
                <a:path h="1312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1218"/>
                  </a:lnTo>
                  <a:lnTo>
                    <a:pt x="0" y="131218"/>
                  </a:lnTo>
                  <a:close/>
                </a:path>
              </a:pathLst>
            </a:custGeom>
            <a:solidFill>
              <a:srgbClr val="012B1B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812800" cy="15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93006" y="6536809"/>
            <a:ext cx="1257283" cy="1281656"/>
            <a:chOff x="0" y="0"/>
            <a:chExt cx="1309640" cy="133502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09640" cy="1335027"/>
            </a:xfrm>
            <a:custGeom>
              <a:avLst/>
              <a:gdLst/>
              <a:ahLst/>
              <a:cxnLst/>
              <a:rect r="r" b="b" t="t" l="l"/>
              <a:pathLst>
                <a:path h="1335027" w="1309640">
                  <a:moveTo>
                    <a:pt x="0" y="0"/>
                  </a:moveTo>
                  <a:lnTo>
                    <a:pt x="1309640" y="0"/>
                  </a:lnTo>
                  <a:lnTo>
                    <a:pt x="1309640" y="1335027"/>
                  </a:lnTo>
                  <a:lnTo>
                    <a:pt x="0" y="1335027"/>
                  </a:lnTo>
                  <a:close/>
                </a:path>
              </a:pathLst>
            </a:custGeom>
            <a:solidFill>
              <a:srgbClr val="29C978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309640" cy="1382652"/>
            </a:xfrm>
            <a:prstGeom prst="rect">
              <a:avLst/>
            </a:prstGeom>
          </p:spPr>
          <p:txBody>
            <a:bodyPr anchor="ctr" rtlCol="false" tIns="54971" lIns="54971" bIns="54971" rIns="54971"/>
            <a:lstStyle/>
            <a:p>
              <a:pPr algn="ctr">
                <a:lnSpc>
                  <a:spcPts val="3779"/>
                </a:lnSpc>
              </a:pPr>
              <a:r>
                <a:rPr lang="en-US" b="true" sz="2699" spc="272">
                  <a:solidFill>
                    <a:srgbClr val="012B1B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06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0939385" y="6940041"/>
            <a:ext cx="54230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none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Key Metrics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267575" y="3591439"/>
            <a:ext cx="1282714" cy="1282714"/>
            <a:chOff x="0" y="0"/>
            <a:chExt cx="1336129" cy="133612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36129" cy="1336129"/>
            </a:xfrm>
            <a:custGeom>
              <a:avLst/>
              <a:gdLst/>
              <a:ahLst/>
              <a:cxnLst/>
              <a:rect r="r" b="b" t="t" l="l"/>
              <a:pathLst>
                <a:path h="1336129" w="1336129">
                  <a:moveTo>
                    <a:pt x="0" y="0"/>
                  </a:moveTo>
                  <a:lnTo>
                    <a:pt x="1336129" y="0"/>
                  </a:lnTo>
                  <a:lnTo>
                    <a:pt x="1336129" y="1336129"/>
                  </a:lnTo>
                  <a:lnTo>
                    <a:pt x="0" y="1336129"/>
                  </a:lnTo>
                  <a:close/>
                </a:path>
              </a:pathLst>
            </a:custGeom>
            <a:solidFill>
              <a:srgbClr val="29C978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336129" cy="1383754"/>
            </a:xfrm>
            <a:prstGeom prst="rect">
              <a:avLst/>
            </a:prstGeom>
          </p:spPr>
          <p:txBody>
            <a:bodyPr anchor="ctr" rtlCol="false" tIns="54971" lIns="54971" bIns="54971" rIns="54971"/>
            <a:lstStyle/>
            <a:p>
              <a:pPr algn="ctr">
                <a:lnSpc>
                  <a:spcPts val="3779"/>
                </a:lnSpc>
              </a:pPr>
              <a:r>
                <a:rPr lang="en-US" b="true" sz="2699" spc="272">
                  <a:solidFill>
                    <a:srgbClr val="012B1B"/>
                  </a:solidFill>
                  <a:latin typeface="Decalotype Bold"/>
                  <a:ea typeface="Decalotype Bold"/>
                  <a:cs typeface="Decalotype Bold"/>
                  <a:sym typeface="Decalotype Bol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685237"/>
            <a:ext cx="7108847" cy="243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t>Protecting Business Assets</a:t>
            </a:r>
          </a:p>
          <a:p>
            <a:pPr lvl="1"/>
            <a:r>
              <a:t>Safeguarding intellectual property, customer data, and financial information.</a:t>
            </a:r>
          </a:p>
          <a:p>
            <a:pPr/>
            <a:r>
              <a:t>Maintaining Customer Trust</a:t>
            </a:r>
          </a:p>
          <a:p>
            <a:pPr lvl="1"/>
            <a:r>
              <a:t>Building a reputation for security and reliability.</a:t>
            </a:r>
          </a:p>
          <a:p>
            <a:pPr/>
            <a:r>
              <a:t>Ensuring Business Continuity</a:t>
            </a:r>
          </a:p>
          <a:p>
            <a:pPr lvl="1"/>
            <a:r>
              <a:t>Minimizing downtime and disruption from cyber attacks.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7058" t="0" r="-2303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239967"/>
            <a:ext cx="7108847" cy="123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B9F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66160" y="3406775"/>
            <a:ext cx="516038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t>Protecting Personal Data</a:t>
            </a:r>
          </a:p>
          <a:p>
            <a:pPr lvl="1"/>
            <a:r>
              <a:t>Preventing identity theft and financial fraud.</a:t>
            </a:r>
          </a:p>
          <a:p>
            <a:pPr/>
            <a:r>
              <a:t>Maintaining Privacy</a:t>
            </a:r>
          </a:p>
          <a:p>
            <a:pPr lvl="1"/>
            <a:r>
              <a:t>Controlling access to personal information online.</a:t>
            </a:r>
          </a:p>
          <a:p>
            <a:pPr/>
            <a:r>
              <a:t>Safe Online Practices</a:t>
            </a:r>
          </a:p>
          <a:p>
            <a:pPr lvl="1"/>
            <a:r>
              <a:t>Using strong passwords, being cautious of phishing scams.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66160" y="4910774"/>
            <a:ext cx="533971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</a:t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y encouraging experimentation, providing resources for new ideas, and recognizing innovative contributions.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5825"/>
            <a:ext cx="16230600" cy="89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Importance for Individuals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06775"/>
            <a:ext cx="646541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>Breaking Down Silos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9488" y="4910774"/>
            <a:ext cx="4965558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</a:t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y encouraging experimentation, providing resources for new ideas, and recognizing innovative contributions.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09591"/>
            <a:ext cx="1464974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Conclusion: A Shared Responsibility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901196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t>Cybersecurity is Everyone's Concern</a:t>
            </a:r>
          </a:p>
          <a:p>
            <a:pPr lvl="1"/>
            <a:r>
              <a:t>Businesses, individuals, and governments must work together.</a:t>
            </a:r>
          </a:p>
          <a:p>
            <a:pPr/>
            <a:r>
              <a:t>Continuous Learning and Adaptation</a:t>
            </a:r>
          </a:p>
          <a:p>
            <a:pPr lvl="1"/>
            <a:r>
              <a:t>Staying informed about emerging threats and best practices.</a:t>
            </a:r>
          </a:p>
          <a:p>
            <a:pPr/>
            <a:r>
              <a:t>Investing in Cybersecurity</a:t>
            </a:r>
          </a:p>
          <a:p>
            <a:pPr lvl="1"/>
            <a:r>
              <a:t>Proactive measures are essential to mitigate risk.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926694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by encouraging experimentation, providing resources for new ideas, and recognizing innovative contributions.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0" t="-43634" r="-19457" b="-3555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167623"/>
            <a:ext cx="11061810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PROACTIVE CRISIS LEADERSHIP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190094"/>
            <a:ext cx="6969818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PROACTIVE CRISIS LEADERSHIP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9C9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6556" y="2722245"/>
            <a:ext cx="10858482" cy="554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9"/>
              </a:lnSpc>
            </a:pPr>
            <a:r>
              <a:rPr lang="en-US" b="true" sz="3899" spc="-93">
                <a:solidFill>
                  <a:srgbClr val="0000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THE ROLE OF LEADERSHIP IN CRISIS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682782" y="4168420"/>
            <a:ext cx="4250831" cy="472377"/>
            <a:chOff x="0" y="0"/>
            <a:chExt cx="3949753" cy="438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49753" cy="438920"/>
            </a:xfrm>
            <a:custGeom>
              <a:avLst/>
              <a:gdLst/>
              <a:ahLst/>
              <a:cxnLst/>
              <a:rect r="r" b="b" t="t" l="l"/>
              <a:pathLst>
                <a:path h="438920" w="3949753">
                  <a:moveTo>
                    <a:pt x="0" y="0"/>
                  </a:moveTo>
                  <a:lnTo>
                    <a:pt x="3949753" y="0"/>
                  </a:lnTo>
                  <a:lnTo>
                    <a:pt x="3949753" y="438920"/>
                  </a:lnTo>
                  <a:lnTo>
                    <a:pt x="0" y="438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8240375" y="0"/>
            <a:ext cx="47625" cy="10287000"/>
            <a:chOff x="0" y="0"/>
            <a:chExt cx="1254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543">
                  <a:moveTo>
                    <a:pt x="0" y="0"/>
                  </a:moveTo>
                  <a:lnTo>
                    <a:pt x="12543" y="0"/>
                  </a:lnTo>
                  <a:lnTo>
                    <a:pt x="12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12B1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54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46556" y="3676650"/>
            <a:ext cx="6782776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Highlight the critical role leaders play in stabilizing organizations during crises and periods of uncertainty. Leaders provide direction and instill confidence.</a:t>
            </a:r>
          </a:p>
          <a:p>
            <a:pPr algn="l">
              <a:lnSpc>
                <a:spcPts val="29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46556" y="7273287"/>
            <a:ext cx="6955124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Outline how uncertainty, when managed effectively, can be a catalyst for innovation and positive change. This can lead to new opportunities.</a:t>
            </a:r>
          </a:p>
          <a:p>
            <a:pPr algn="l">
              <a:lnSpc>
                <a:spcPts val="29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46556" y="6305550"/>
            <a:ext cx="12684390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0000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THE OPPORTUNITY FOR TRANSFORMATION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5490" y="537951"/>
            <a:ext cx="17734885" cy="1023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19"/>
              </a:lnSpc>
            </a:pPr>
            <a:r>
              <a:rPr lang="en-US" b="true" sz="7108" spc="-170">
                <a:solidFill>
                  <a:srgbClr val="0000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Why Leadership Matters More Than Ever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685237"/>
            <a:ext cx="7108847" cy="363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CONTENT MISSION, VISION, </a:t>
            </a:r>
            <a:r>
              <a:rPr lang="en-US" sz="8599" spc="-206" b="true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&amp; Goals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7058" t="0" r="-2303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239967"/>
            <a:ext cx="7108847" cy="123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02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B9F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66160" y="3406775"/>
            <a:ext cx="516038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>Breaking Down Silos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66160" y="4910774"/>
            <a:ext cx="533971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</a:t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y encouraging experimentation, providing resources for new ideas, and recognizing innovative contributions.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5825"/>
            <a:ext cx="16230600" cy="89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4999" spc="504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>Fostering a Collaborative Environment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06775"/>
            <a:ext cx="646541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>Breaking Down Silos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9488" y="4910774"/>
            <a:ext cx="4965558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</a:t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y encouraging experimentation, providing resources for new ideas, and recognizing innovative contributions.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09591"/>
            <a:ext cx="1464974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5000" spc="505">
                <a:solidFill>
                  <a:srgbClr val="B9F1D1"/>
                </a:solidFill>
                <a:latin typeface="Decalotype"/>
                <a:ea typeface="Decalotype"/>
                <a:cs typeface="Decalotype"/>
                <a:sym typeface="Decalotype"/>
              </a:rPr>
              <a:t>KEY TAKEAWAYS FOR EFFECTIVE LEADERSHIP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901196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by encouraging experimentation, providing resources for new ideas, and recognizing innovative contributions.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926694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by encouraging experimentation, providing resources for new ideas, and recognizing innovative contributions.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0" t="-43634" r="-19457" b="-3555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167623"/>
            <a:ext cx="11061810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PROACTIVE CRISIS LEADERSHIP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190094"/>
            <a:ext cx="6969818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PROACTIVE CRISIS LEADERSHIP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685237"/>
            <a:ext cx="7108847" cy="363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CONTENT MISSION, VISION, </a:t>
            </a:r>
            <a:r>
              <a:rPr lang="en-US" sz="8599" spc="-206" b="true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&amp; Goals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7058" t="0" r="-2303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239967"/>
            <a:ext cx="7108847" cy="123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03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B9F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66160" y="3406775"/>
            <a:ext cx="516038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>Breaking Down Silos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66160" y="4910774"/>
            <a:ext cx="533971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</a:t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y encouraging experimentation, providing resources for new ideas, and recognizing innovative contributions.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5825"/>
            <a:ext cx="16230600" cy="89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4999" spc="504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>Fostering a Collaborative Environment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06775"/>
            <a:ext cx="646541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>Breaking Down Silos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9488" y="4910774"/>
            <a:ext cx="4965558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</a:t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y encouraging experimentation, providing resources for new ideas, and recognizing innovative contributions.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09591"/>
            <a:ext cx="1464974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5000" spc="505">
                <a:solidFill>
                  <a:srgbClr val="B9F1D1"/>
                </a:solidFill>
                <a:latin typeface="Decalotype"/>
                <a:ea typeface="Decalotype"/>
                <a:cs typeface="Decalotype"/>
                <a:sym typeface="Decalotype"/>
              </a:rPr>
              <a:t>KEY TAKEAWAYS FOR EFFECTIVE LEADERSHIP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901196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by encouraging experimentation, providing resources for new ideas, and recognizing innovative contributions.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926694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by encouraging experimentation, providing resources for new ideas, and recognizing innovative contributions.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0" t="-43634" r="-19457" b="-3555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167623"/>
            <a:ext cx="11061810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PROACTIVE CRISIS LEADERSHIP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190094"/>
            <a:ext cx="6969818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PROACTIVE CRISIS LEADERSHIP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685237"/>
            <a:ext cx="7108847" cy="363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CONTENT MISSION, VISION, </a:t>
            </a:r>
            <a:r>
              <a:rPr lang="en-US" sz="8599" spc="-206" b="true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&amp; Goals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7058" t="0" r="-2303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239967"/>
            <a:ext cx="7108847" cy="123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B9F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66160" y="3406775"/>
            <a:ext cx="516038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>Breaking Down Silos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66160" y="4910774"/>
            <a:ext cx="533971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</a:t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y encouraging experimentation, providing resources for new ideas, and recognizing innovative contributions.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5825"/>
            <a:ext cx="16230600" cy="89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4999" spc="504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>Fostering a Collaborative Environment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06775"/>
            <a:ext cx="646541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>Breaking Down Silos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9488" y="4910774"/>
            <a:ext cx="4965558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</a:t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y encouraging experimentation, providing resources for new ideas, and recognizing innovative contributions.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09591"/>
            <a:ext cx="1464974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5000" spc="505">
                <a:solidFill>
                  <a:srgbClr val="B9F1D1"/>
                </a:solidFill>
                <a:latin typeface="Decalotype"/>
                <a:ea typeface="Decalotype"/>
                <a:cs typeface="Decalotype"/>
                <a:sym typeface="Decalotype"/>
              </a:rPr>
              <a:t>KEY TAKEAWAYS FOR EFFECTIVE LEADERSHIP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901196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by encouraging experimentation, providing resources for new ideas, and recognizing innovative contributions.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926694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by encouraging experimentation, providing resources for new ideas, and recognizing innovative contributions.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0" t="-43634" r="-19457" b="-3555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167623"/>
            <a:ext cx="11061810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PROACTIVE CRISIS LEADERSHIP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190094"/>
            <a:ext cx="6969818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PROACTIVE CRISIS LEADERSHIP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685237"/>
            <a:ext cx="7108847" cy="363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CONTENT MISSION, VISION, </a:t>
            </a:r>
            <a:r>
              <a:rPr lang="en-US" sz="8599" spc="-206" b="true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&amp; Goals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7058" t="0" r="-2303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239967"/>
            <a:ext cx="7108847" cy="123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05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B9F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66160" y="3406775"/>
            <a:ext cx="516038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>Breaking Down Silos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66160" y="4910774"/>
            <a:ext cx="533971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</a:t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y encouraging experimentation, providing resources for new ideas, and recognizing innovative contributions.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5825"/>
            <a:ext cx="16230600" cy="89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4999" spc="504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>Fostering a Collaborative Environment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06775"/>
            <a:ext cx="646541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>Breaking Down Silos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9488" y="4910774"/>
            <a:ext cx="4965558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</a:t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y encouraging experimentation, providing resources for new ideas, and recognizing innovative contributions.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09591"/>
            <a:ext cx="1464974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5000" spc="505">
                <a:solidFill>
                  <a:srgbClr val="B9F1D1"/>
                </a:solidFill>
                <a:latin typeface="Decalotype"/>
                <a:ea typeface="Decalotype"/>
                <a:cs typeface="Decalotype"/>
                <a:sym typeface="Decalotype"/>
              </a:rPr>
              <a:t>KEY TAKEAWAYS FOR EFFECTIVE LEADERSHIP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901196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by encouraging experimentation, providing resources for new ideas, and recognizing innovative contributions.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926694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by encouraging experimentation, providing resources for new ideas, and recognizing innovative contributions.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0" t="-43634" r="-19457" b="-3555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167623"/>
            <a:ext cx="11061810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PROACTIVE CRISIS LEADERSHIP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190094"/>
            <a:ext cx="6969818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PROACTIVE CRISIS LEADERSHIP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685237"/>
            <a:ext cx="7108847" cy="363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CONTENT MISSION, VISION, </a:t>
            </a:r>
            <a:r>
              <a:rPr lang="en-US" sz="8599" spc="-206" b="true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&amp; Goals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7058" t="0" r="-2303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239967"/>
            <a:ext cx="7108847" cy="123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9"/>
              </a:lnSpc>
            </a:pPr>
            <a:r>
              <a:rPr lang="en-US" b="true" sz="8599" spc="-206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06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B9F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66160" y="3406775"/>
            <a:ext cx="516038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>Breaking Down Silos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66160" y="4910774"/>
            <a:ext cx="533971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</a:t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y encouraging experimentation, providing resources for new ideas, and recognizing innovative contributions.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5825"/>
            <a:ext cx="16230600" cy="89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4999" spc="504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>Fostering a Collaborative Environment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06775"/>
            <a:ext cx="646541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12B1B"/>
                </a:solidFill>
                <a:latin typeface="Aileron Bold"/>
                <a:ea typeface="Aileron Bold"/>
                <a:cs typeface="Aileron Bold"/>
                <a:sym typeface="Aileron Bold"/>
              </a:rPr>
              <a:t>Breaking Down Silos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9488" y="4910774"/>
            <a:ext cx="4965558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</a:t>
            </a:r>
            <a:r>
              <a:rPr lang="en-US" sz="2000">
                <a:solidFill>
                  <a:srgbClr val="012B1B"/>
                </a:solidFill>
                <a:latin typeface="Aileron"/>
                <a:ea typeface="Aileron"/>
                <a:cs typeface="Aileron"/>
                <a:sym typeface="Aileron"/>
              </a:rPr>
              <a:t>y encouraging experimentation, providing resources for new ideas, and recognizing innovative contributions.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09591"/>
            <a:ext cx="1464974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5000" spc="505">
                <a:solidFill>
                  <a:srgbClr val="B9F1D1"/>
                </a:solidFill>
                <a:latin typeface="Decalotype"/>
                <a:ea typeface="Decalotype"/>
                <a:cs typeface="Decalotype"/>
                <a:sym typeface="Decalotype"/>
              </a:rPr>
              <a:t>KEY TAKEAWAYS FOR EFFECTIVE LEADERSHIP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901196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by encouraging experimentation, providing resources for new ideas, and recognizing innovative contributions.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926694"/>
            <a:ext cx="576377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Explain how leaders can foster a culture of innovation by encouraging experimentation, providing resources for new ideas, and recognizing innovative contributions.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402855" y="1401855"/>
            <a:ext cx="8885145" cy="8885145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solidFill>
              <a:srgbClr val="B9F1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15121" y="1914121"/>
            <a:ext cx="8372879" cy="837287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6350000"/>
                  </a:moveTo>
                  <a:lnTo>
                    <a:pt x="6350000" y="6350000"/>
                  </a:lnTo>
                  <a:lnTo>
                    <a:pt x="6350000" y="0"/>
                  </a:lnTo>
                  <a:cubicBezTo>
                    <a:pt x="2843530" y="0"/>
                    <a:pt x="0" y="2843530"/>
                    <a:pt x="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0" t="-43634" r="-19457" b="-3555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167623"/>
            <a:ext cx="11061810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PROACTIVE CRISIS LEADERSHIP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190094"/>
            <a:ext cx="6969818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95">
                <a:solidFill>
                  <a:srgbClr val="B9F1D1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PROACTIVE CRISIS LEADERSHIP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DAG5Ic_1yac</dc:identifier>
  <dcterms:modified xsi:type="dcterms:W3CDTF">2011-08-01T06:04:30Z</dcterms:modified>
  <cp:revision>1</cp:revision>
  <dc:title>Background</dc:title>
</cp:coreProperties>
</file>