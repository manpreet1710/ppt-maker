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8288000" cy="10287000"/>
  <p:notesSz cx="6858000" cy="9144000"/>
  <p:embeddedFontLst>
    <p:embeddedFont>
      <p:font typeface="Decalotype Bold" charset="1" panose="00000800000000000000"/>
      <p:regular r:id="rId27"/>
    </p:embeddedFont>
    <p:embeddedFont>
      <p:font typeface="Aileron" charset="1" panose="00000500000000000000"/>
      <p:regular r:id="rId28"/>
    </p:embeddedFont>
    <p:embeddedFont>
      <p:font typeface="Aileron Bold" charset="1" panose="00000800000000000000"/>
      <p:regular r:id="rId29"/>
    </p:embeddedFont>
    <p:embeddedFont>
      <p:font typeface="Decalotype" charset="1" panose="00000500000000000000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font" Target="fonts/font27.fntdata"/><Relationship Id="rId28" Type="http://schemas.openxmlformats.org/officeDocument/2006/relationships/font" Target="fonts/font28.fntdata"/><Relationship Id="rId29" Type="http://schemas.openxmlformats.org/officeDocument/2006/relationships/font" Target="fonts/font29.fntdata"/><Relationship Id="rId30" Type="http://schemas.openxmlformats.org/officeDocument/2006/relationships/font" Target="fonts/font30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402855" y="1401855"/>
            <a:ext cx="8885145" cy="8885145"/>
            <a:chOff x="0" y="0"/>
            <a:chExt cx="6350000" cy="6350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solidFill>
              <a:srgbClr val="B9F1D1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915121" y="1914121"/>
            <a:ext cx="8372879" cy="8372879"/>
            <a:chOff x="0" y="0"/>
            <a:chExt cx="6350000" cy="6350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blipFill>
              <a:blip r:embed="rId2"/>
              <a:stretch>
                <a:fillRect l="-26670" t="-66514" r="-4626" b="-30431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-10800000">
            <a:off x="0" y="0"/>
            <a:ext cx="3925039" cy="2815438"/>
            <a:chOff x="0" y="0"/>
            <a:chExt cx="6974722" cy="500298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974722" cy="5002981"/>
            </a:xfrm>
            <a:custGeom>
              <a:avLst/>
              <a:gdLst/>
              <a:ahLst/>
              <a:cxnLst/>
              <a:rect r="r" b="b" t="t" l="l"/>
              <a:pathLst>
                <a:path h="5002981" w="6974722">
                  <a:moveTo>
                    <a:pt x="0" y="5002981"/>
                  </a:moveTo>
                  <a:lnTo>
                    <a:pt x="6974722" y="5002981"/>
                  </a:lnTo>
                  <a:lnTo>
                    <a:pt x="6974722" y="0"/>
                  </a:lnTo>
                  <a:cubicBezTo>
                    <a:pt x="3123280" y="0"/>
                    <a:pt x="0" y="2240335"/>
                    <a:pt x="0" y="5002981"/>
                  </a:cubicBezTo>
                  <a:close/>
                </a:path>
              </a:pathLst>
            </a:custGeom>
            <a:solidFill>
              <a:srgbClr val="B9F1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028700" y="4831008"/>
            <a:ext cx="7282096" cy="55317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738"/>
              </a:lnSpc>
            </a:pPr>
            <a:r>
              <a:rPr lang="en-US" b="true" sz="7405" spc="-222">
                <a:solidFill>
                  <a:srgbClr val="012B1B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sz="7405" b="1">
                <a:solidFill>
                  <a:srgbClr val="012B1B"/>
                </a:solidFill>
                <a:latin typeface="Decalotype Bold"/>
              </a:rPr>
              <a:t>Digital Marketing: A Comprehensive Exploration</a:t>
            </a:r>
          </a:p>
          <a:p>
            <a:pPr algn="l">
              <a:lnSpc>
                <a:spcPts val="8738"/>
              </a:lnSpc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B9F1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49488" y="1837770"/>
            <a:ext cx="7108847" cy="123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459"/>
              </a:lnSpc>
            </a:pPr>
            <a:r>
              <a:rPr lang="en-US" b="true" sz="8599" spc="-206">
                <a:solidFill>
                  <a:srgbClr val="012B1B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AGENDA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293006" y="3591439"/>
            <a:ext cx="7945506" cy="1282714"/>
            <a:chOff x="0" y="0"/>
            <a:chExt cx="812800" cy="13121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131218"/>
            </a:xfrm>
            <a:custGeom>
              <a:avLst/>
              <a:gdLst/>
              <a:ahLst/>
              <a:cxnLst/>
              <a:rect r="r" b="b" t="t" l="l"/>
              <a:pathLst>
                <a:path h="13121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1218"/>
                  </a:lnTo>
                  <a:lnTo>
                    <a:pt x="0" y="131218"/>
                  </a:lnTo>
                  <a:close/>
                </a:path>
              </a:pathLst>
            </a:custGeom>
            <a:solidFill>
              <a:srgbClr val="012B1B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812800" cy="1597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0939385" y="3994671"/>
            <a:ext cx="5665457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u="none">
                <a:solidFill>
                  <a:srgbClr val="FFFFFF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3000">
                <a:solidFill>
                  <a:srgbClr val="FFFFFF"/>
                </a:solidFill>
                <a:latin typeface="Aileron"/>
              </a:rPr>
              <a:t>SEO Fundamentals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28700" y="3591439"/>
            <a:ext cx="7945506" cy="1282714"/>
            <a:chOff x="0" y="0"/>
            <a:chExt cx="812800" cy="13121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131218"/>
            </a:xfrm>
            <a:custGeom>
              <a:avLst/>
              <a:gdLst/>
              <a:ahLst/>
              <a:cxnLst/>
              <a:rect r="r" b="b" t="t" l="l"/>
              <a:pathLst>
                <a:path h="13121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1218"/>
                  </a:lnTo>
                  <a:lnTo>
                    <a:pt x="0" y="131218"/>
                  </a:lnTo>
                  <a:close/>
                </a:path>
              </a:pathLst>
            </a:custGeom>
            <a:solidFill>
              <a:srgbClr val="012B1B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812800" cy="1597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28700" y="3591439"/>
            <a:ext cx="1282714" cy="1282714"/>
            <a:chOff x="0" y="0"/>
            <a:chExt cx="1336129" cy="133612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336129" cy="1336129"/>
            </a:xfrm>
            <a:custGeom>
              <a:avLst/>
              <a:gdLst/>
              <a:ahLst/>
              <a:cxnLst/>
              <a:rect r="r" b="b" t="t" l="l"/>
              <a:pathLst>
                <a:path h="1336129" w="1336129">
                  <a:moveTo>
                    <a:pt x="0" y="0"/>
                  </a:moveTo>
                  <a:lnTo>
                    <a:pt x="1336129" y="0"/>
                  </a:lnTo>
                  <a:lnTo>
                    <a:pt x="1336129" y="1336129"/>
                  </a:lnTo>
                  <a:lnTo>
                    <a:pt x="0" y="1336129"/>
                  </a:lnTo>
                  <a:close/>
                </a:path>
              </a:pathLst>
            </a:custGeom>
            <a:solidFill>
              <a:srgbClr val="29C978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336129" cy="1383754"/>
            </a:xfrm>
            <a:prstGeom prst="rect">
              <a:avLst/>
            </a:prstGeom>
          </p:spPr>
          <p:txBody>
            <a:bodyPr anchor="ctr" rtlCol="false" tIns="54971" lIns="54971" bIns="54971" rIns="54971"/>
            <a:lstStyle/>
            <a:p>
              <a:pPr algn="ctr">
                <a:lnSpc>
                  <a:spcPts val="3779"/>
                </a:lnSpc>
              </a:pPr>
              <a:r>
                <a:rPr lang="en-US" b="true" sz="2699" spc="272">
                  <a:solidFill>
                    <a:srgbClr val="012B1B"/>
                  </a:solidFill>
                  <a:latin typeface="Decalotype Bold"/>
                  <a:ea typeface="Decalotype Bold"/>
                  <a:cs typeface="Decalotype Bold"/>
                  <a:sym typeface="Decalotype Bold"/>
                </a:rPr>
                <a:t>01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2675080" y="3994671"/>
            <a:ext cx="5423092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u="sng">
                <a:solidFill>
                  <a:srgbClr val="FFFFFF"/>
                </a:solidFill>
                <a:latin typeface="Aileron"/>
                <a:ea typeface="Aileron"/>
                <a:cs typeface="Aileron"/>
                <a:sym typeface="Aileron"/>
                <a:hlinkClick r:id="rId2" action="ppaction://hlinksldjump"/>
              </a:rPr>
              <a:t/>
            </a:r>
            <a:r>
              <a:rPr sz="3000">
                <a:solidFill>
                  <a:srgbClr val="FFFFFF"/>
                </a:solidFill>
                <a:latin typeface="Aileron"/>
              </a:rPr>
              <a:t>PPC Advertising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028700" y="5063595"/>
            <a:ext cx="7945506" cy="1282714"/>
            <a:chOff x="0" y="0"/>
            <a:chExt cx="812800" cy="13121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131218"/>
            </a:xfrm>
            <a:custGeom>
              <a:avLst/>
              <a:gdLst/>
              <a:ahLst/>
              <a:cxnLst/>
              <a:rect r="r" b="b" t="t" l="l"/>
              <a:pathLst>
                <a:path h="13121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1218"/>
                  </a:lnTo>
                  <a:lnTo>
                    <a:pt x="0" y="131218"/>
                  </a:lnTo>
                  <a:close/>
                </a:path>
              </a:pathLst>
            </a:custGeom>
            <a:solidFill>
              <a:srgbClr val="012B1B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12800" cy="1597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28700" y="5063595"/>
            <a:ext cx="1282714" cy="1282714"/>
            <a:chOff x="0" y="0"/>
            <a:chExt cx="1336129" cy="133612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336129" cy="1336129"/>
            </a:xfrm>
            <a:custGeom>
              <a:avLst/>
              <a:gdLst/>
              <a:ahLst/>
              <a:cxnLst/>
              <a:rect r="r" b="b" t="t" l="l"/>
              <a:pathLst>
                <a:path h="1336129" w="1336129">
                  <a:moveTo>
                    <a:pt x="0" y="0"/>
                  </a:moveTo>
                  <a:lnTo>
                    <a:pt x="1336129" y="0"/>
                  </a:lnTo>
                  <a:lnTo>
                    <a:pt x="1336129" y="1336129"/>
                  </a:lnTo>
                  <a:lnTo>
                    <a:pt x="0" y="1336129"/>
                  </a:lnTo>
                  <a:close/>
                </a:path>
              </a:pathLst>
            </a:custGeom>
            <a:solidFill>
              <a:srgbClr val="29C978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336129" cy="1383754"/>
            </a:xfrm>
            <a:prstGeom prst="rect">
              <a:avLst/>
            </a:prstGeom>
          </p:spPr>
          <p:txBody>
            <a:bodyPr anchor="ctr" rtlCol="false" tIns="54971" lIns="54971" bIns="54971" rIns="54971"/>
            <a:lstStyle/>
            <a:p>
              <a:pPr algn="ctr">
                <a:lnSpc>
                  <a:spcPts val="3779"/>
                </a:lnSpc>
              </a:pPr>
              <a:r>
                <a:rPr lang="en-US" b="true" sz="2699" spc="272">
                  <a:solidFill>
                    <a:srgbClr val="012B1B"/>
                  </a:solidFill>
                  <a:latin typeface="Decalotype Bold"/>
                  <a:ea typeface="Decalotype Bold"/>
                  <a:cs typeface="Decalotype Bold"/>
                  <a:sym typeface="Decalotype Bold"/>
                </a:rPr>
                <a:t>02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675080" y="5466827"/>
            <a:ext cx="5423092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u="none">
                <a:solidFill>
                  <a:srgbClr val="FFFFFF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3000">
                <a:solidFill>
                  <a:srgbClr val="FFFFFF"/>
                </a:solidFill>
                <a:latin typeface="Aileron"/>
              </a:rPr>
              <a:t>Social Media Marketing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28700" y="6535751"/>
            <a:ext cx="7945506" cy="1282714"/>
            <a:chOff x="0" y="0"/>
            <a:chExt cx="812800" cy="13121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12800" cy="131218"/>
            </a:xfrm>
            <a:custGeom>
              <a:avLst/>
              <a:gdLst/>
              <a:ahLst/>
              <a:cxnLst/>
              <a:rect r="r" b="b" t="t" l="l"/>
              <a:pathLst>
                <a:path h="13121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1218"/>
                  </a:lnTo>
                  <a:lnTo>
                    <a:pt x="0" y="131218"/>
                  </a:lnTo>
                  <a:close/>
                </a:path>
              </a:pathLst>
            </a:custGeom>
            <a:solidFill>
              <a:srgbClr val="012B1B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28575"/>
              <a:ext cx="812800" cy="1597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028700" y="6535751"/>
            <a:ext cx="1282714" cy="1282714"/>
            <a:chOff x="0" y="0"/>
            <a:chExt cx="1336129" cy="1336129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336129" cy="1336129"/>
            </a:xfrm>
            <a:custGeom>
              <a:avLst/>
              <a:gdLst/>
              <a:ahLst/>
              <a:cxnLst/>
              <a:rect r="r" b="b" t="t" l="l"/>
              <a:pathLst>
                <a:path h="1336129" w="1336129">
                  <a:moveTo>
                    <a:pt x="0" y="0"/>
                  </a:moveTo>
                  <a:lnTo>
                    <a:pt x="1336129" y="0"/>
                  </a:lnTo>
                  <a:lnTo>
                    <a:pt x="1336129" y="1336129"/>
                  </a:lnTo>
                  <a:lnTo>
                    <a:pt x="0" y="1336129"/>
                  </a:lnTo>
                  <a:close/>
                </a:path>
              </a:pathLst>
            </a:custGeom>
            <a:solidFill>
              <a:srgbClr val="29C978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47625"/>
              <a:ext cx="1336129" cy="1383754"/>
            </a:xfrm>
            <a:prstGeom prst="rect">
              <a:avLst/>
            </a:prstGeom>
          </p:spPr>
          <p:txBody>
            <a:bodyPr anchor="ctr" rtlCol="false" tIns="54971" lIns="54971" bIns="54971" rIns="54971"/>
            <a:lstStyle/>
            <a:p>
              <a:pPr algn="ctr">
                <a:lnSpc>
                  <a:spcPts val="3779"/>
                </a:lnSpc>
              </a:pPr>
              <a:r>
                <a:rPr lang="en-US" b="true" sz="2699" spc="272">
                  <a:solidFill>
                    <a:srgbClr val="012B1B"/>
                  </a:solidFill>
                  <a:latin typeface="Decalotype Bold"/>
                  <a:ea typeface="Decalotype Bold"/>
                  <a:cs typeface="Decalotype Bold"/>
                  <a:sym typeface="Decalotype Bold"/>
                </a:rPr>
                <a:t>03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2675080" y="6938983"/>
            <a:ext cx="5423092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u="none">
                <a:solidFill>
                  <a:srgbClr val="FFFFFF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3000">
                <a:solidFill>
                  <a:srgbClr val="FFFFFF"/>
                </a:solidFill>
                <a:latin typeface="Aileron"/>
              </a:rPr>
              <a:t>Email Marketing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9293006" y="5063595"/>
            <a:ext cx="7945506" cy="1282714"/>
            <a:chOff x="0" y="0"/>
            <a:chExt cx="812800" cy="131218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12800" cy="131218"/>
            </a:xfrm>
            <a:custGeom>
              <a:avLst/>
              <a:gdLst/>
              <a:ahLst/>
              <a:cxnLst/>
              <a:rect r="r" b="b" t="t" l="l"/>
              <a:pathLst>
                <a:path h="13121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1218"/>
                  </a:lnTo>
                  <a:lnTo>
                    <a:pt x="0" y="131218"/>
                  </a:lnTo>
                  <a:close/>
                </a:path>
              </a:pathLst>
            </a:custGeom>
            <a:solidFill>
              <a:srgbClr val="012B1B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28575"/>
              <a:ext cx="812800" cy="1597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293006" y="5063595"/>
            <a:ext cx="1257283" cy="1282714"/>
            <a:chOff x="0" y="0"/>
            <a:chExt cx="1309640" cy="133612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309640" cy="1336129"/>
            </a:xfrm>
            <a:custGeom>
              <a:avLst/>
              <a:gdLst/>
              <a:ahLst/>
              <a:cxnLst/>
              <a:rect r="r" b="b" t="t" l="l"/>
              <a:pathLst>
                <a:path h="1336129" w="1309640">
                  <a:moveTo>
                    <a:pt x="0" y="0"/>
                  </a:moveTo>
                  <a:lnTo>
                    <a:pt x="1309640" y="0"/>
                  </a:lnTo>
                  <a:lnTo>
                    <a:pt x="1309640" y="1336129"/>
                  </a:lnTo>
                  <a:lnTo>
                    <a:pt x="0" y="1336129"/>
                  </a:lnTo>
                  <a:close/>
                </a:path>
              </a:pathLst>
            </a:custGeom>
            <a:solidFill>
              <a:srgbClr val="29C978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47625"/>
              <a:ext cx="1309640" cy="1383754"/>
            </a:xfrm>
            <a:prstGeom prst="rect">
              <a:avLst/>
            </a:prstGeom>
          </p:spPr>
          <p:txBody>
            <a:bodyPr anchor="ctr" rtlCol="false" tIns="54971" lIns="54971" bIns="54971" rIns="54971"/>
            <a:lstStyle/>
            <a:p>
              <a:pPr algn="ctr">
                <a:lnSpc>
                  <a:spcPts val="3779"/>
                </a:lnSpc>
              </a:pPr>
              <a:r>
                <a:rPr lang="en-US" b="true" sz="2699" spc="272">
                  <a:solidFill>
                    <a:srgbClr val="012B1B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05</a:t>
              </a: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10939385" y="5466827"/>
            <a:ext cx="5423092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u="none">
                <a:solidFill>
                  <a:srgbClr val="FFFFFF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3000">
                <a:solidFill>
                  <a:srgbClr val="FFFFFF"/>
                </a:solidFill>
                <a:latin typeface="Aileron"/>
              </a:rPr>
              <a:t>Content Marketing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9293006" y="6536809"/>
            <a:ext cx="7945506" cy="1282714"/>
            <a:chOff x="0" y="0"/>
            <a:chExt cx="812800" cy="131218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12800" cy="131218"/>
            </a:xfrm>
            <a:custGeom>
              <a:avLst/>
              <a:gdLst/>
              <a:ahLst/>
              <a:cxnLst/>
              <a:rect r="r" b="b" t="t" l="l"/>
              <a:pathLst>
                <a:path h="13121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1218"/>
                  </a:lnTo>
                  <a:lnTo>
                    <a:pt x="0" y="131218"/>
                  </a:lnTo>
                  <a:close/>
                </a:path>
              </a:pathLst>
            </a:custGeom>
            <a:solidFill>
              <a:srgbClr val="012B1B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812800" cy="1597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293006" y="6536809"/>
            <a:ext cx="1257283" cy="1281656"/>
            <a:chOff x="0" y="0"/>
            <a:chExt cx="1309640" cy="1335027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309640" cy="1335027"/>
            </a:xfrm>
            <a:custGeom>
              <a:avLst/>
              <a:gdLst/>
              <a:ahLst/>
              <a:cxnLst/>
              <a:rect r="r" b="b" t="t" l="l"/>
              <a:pathLst>
                <a:path h="1335027" w="1309640">
                  <a:moveTo>
                    <a:pt x="0" y="0"/>
                  </a:moveTo>
                  <a:lnTo>
                    <a:pt x="1309640" y="0"/>
                  </a:lnTo>
                  <a:lnTo>
                    <a:pt x="1309640" y="1335027"/>
                  </a:lnTo>
                  <a:lnTo>
                    <a:pt x="0" y="1335027"/>
                  </a:lnTo>
                  <a:close/>
                </a:path>
              </a:pathLst>
            </a:custGeom>
            <a:solidFill>
              <a:srgbClr val="29C978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47625"/>
              <a:ext cx="1309640" cy="1382652"/>
            </a:xfrm>
            <a:prstGeom prst="rect">
              <a:avLst/>
            </a:prstGeom>
          </p:spPr>
          <p:txBody>
            <a:bodyPr anchor="ctr" rtlCol="false" tIns="54971" lIns="54971" bIns="54971" rIns="54971"/>
            <a:lstStyle/>
            <a:p>
              <a:pPr algn="ctr">
                <a:lnSpc>
                  <a:spcPts val="3779"/>
                </a:lnSpc>
              </a:pPr>
              <a:r>
                <a:rPr lang="en-US" b="true" sz="2699" spc="272">
                  <a:solidFill>
                    <a:srgbClr val="012B1B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06</a:t>
              </a: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10939385" y="6940041"/>
            <a:ext cx="5423092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u="none">
                <a:solidFill>
                  <a:srgbClr val="FFFFFF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3000">
                <a:solidFill>
                  <a:srgbClr val="FFFFFF"/>
                </a:solidFill>
                <a:latin typeface="Aileron"/>
              </a:rPr>
              <a:t>Analytics &amp; Measurement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9267575" y="3591439"/>
            <a:ext cx="1282714" cy="1282714"/>
            <a:chOff x="0" y="0"/>
            <a:chExt cx="1336129" cy="1336129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336129" cy="1336129"/>
            </a:xfrm>
            <a:custGeom>
              <a:avLst/>
              <a:gdLst/>
              <a:ahLst/>
              <a:cxnLst/>
              <a:rect r="r" b="b" t="t" l="l"/>
              <a:pathLst>
                <a:path h="1336129" w="1336129">
                  <a:moveTo>
                    <a:pt x="0" y="0"/>
                  </a:moveTo>
                  <a:lnTo>
                    <a:pt x="1336129" y="0"/>
                  </a:lnTo>
                  <a:lnTo>
                    <a:pt x="1336129" y="1336129"/>
                  </a:lnTo>
                  <a:lnTo>
                    <a:pt x="0" y="1336129"/>
                  </a:lnTo>
                  <a:close/>
                </a:path>
              </a:pathLst>
            </a:custGeom>
            <a:solidFill>
              <a:srgbClr val="29C978"/>
            </a:solid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47625"/>
              <a:ext cx="1336129" cy="1383754"/>
            </a:xfrm>
            <a:prstGeom prst="rect">
              <a:avLst/>
            </a:prstGeom>
          </p:spPr>
          <p:txBody>
            <a:bodyPr anchor="ctr" rtlCol="false" tIns="54971" lIns="54971" bIns="54971" rIns="54971"/>
            <a:lstStyle/>
            <a:p>
              <a:pPr algn="ctr">
                <a:lnSpc>
                  <a:spcPts val="3779"/>
                </a:lnSpc>
              </a:pPr>
              <a:r>
                <a:rPr lang="en-US" b="true" sz="2699" spc="272">
                  <a:solidFill>
                    <a:srgbClr val="012B1B"/>
                  </a:solidFill>
                  <a:latin typeface="Decalotype Bold"/>
                  <a:ea typeface="Decalotype Bold"/>
                  <a:cs typeface="Decalotype Bold"/>
                  <a:sym typeface="Decalotype Bold"/>
                </a:rPr>
                <a:t>04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5685237"/>
            <a:ext cx="7108847" cy="24333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459"/>
              </a:lnSpc>
            </a:pPr>
            <a:r>
              <a:rPr lang="en-US" b="true" sz="8599" spc="-206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sz="8599" b="1">
                <a:solidFill>
                  <a:srgbClr val="B9F1D1"/>
                </a:solidFill>
                <a:latin typeface="Decalotype Bold"/>
              </a:rPr>
              <a:t>SEO Fundamentals</a:t>
            </a:r>
          </a:p>
          <a:p>
            <a:pPr algn="l">
              <a:lnSpc>
                <a:spcPts val="9459"/>
              </a:lnSpc>
            </a:pPr>
            <a:r>
              <a:rPr lang="en-US" sz="8599" spc="-206" b="true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402855" y="1401855"/>
            <a:ext cx="8885145" cy="8885145"/>
            <a:chOff x="0" y="0"/>
            <a:chExt cx="6350000" cy="6350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solidFill>
              <a:srgbClr val="B9F1D1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5" id="5"/>
          <p:cNvGrpSpPr/>
          <p:nvPr/>
        </p:nvGrpSpPr>
        <p:grpSpPr>
          <a:xfrm rot="0">
            <a:off x="9915121" y="1914121"/>
            <a:ext cx="8372879" cy="8372879"/>
            <a:chOff x="0" y="0"/>
            <a:chExt cx="6350000" cy="6350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blipFill>
              <a:blip r:embed="rId2"/>
              <a:stretch>
                <a:fillRect l="-27058" t="0" r="-23035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1028700" y="4239967"/>
            <a:ext cx="7108847" cy="123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459"/>
              </a:lnSpc>
            </a:pPr>
            <a:r>
              <a:rPr lang="en-US" b="true" sz="8599" spc="-206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B9F1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366160" y="3406775"/>
            <a:ext cx="5160381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true">
                <a:solidFill>
                  <a:srgbClr val="012B1B"/>
                </a:solidFill>
                <a:latin typeface="Aileron Bold"/>
                <a:ea typeface="Aileron Bold"/>
                <a:cs typeface="Aileron Bold"/>
                <a:sym typeface="Aileron Bold"/>
              </a:rPr>
              <a:t/>
            </a:r>
            <a:r>
              <a:rPr sz="3999" b="1">
                <a:solidFill>
                  <a:srgbClr val="012B1B"/>
                </a:solidFill>
                <a:latin typeface="Aileron Bold"/>
              </a:rPr>
              <a:t>Long-Tail Keywords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366160" y="4910774"/>
            <a:ext cx="5339711" cy="175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012B1B"/>
                </a:solidFill>
                <a:latin typeface="Aileron"/>
              </a:rPr>
              <a:t>Long-tail keywords are longer, more specific phrases that target a niche audience and often have lower competition, leading to higher conversion rates.</a:t>
            </a:r>
          </a:p>
          <a:p>
            <a:pPr algn="l">
              <a:lnSpc>
                <a:spcPts val="2800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885825"/>
            <a:ext cx="16230600" cy="8953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99"/>
              </a:lnSpc>
            </a:pPr>
            <a:r>
              <a:rPr lang="en-US" sz="4999" spc="504" b="true">
                <a:solidFill>
                  <a:srgbClr val="012B1B"/>
                </a:solidFill>
                <a:latin typeface="Aileron Bold"/>
                <a:ea typeface="Aileron Bold"/>
                <a:cs typeface="Aileron Bold"/>
                <a:sym typeface="Aileron Bold"/>
              </a:rPr>
              <a:t/>
            </a:r>
            <a:r>
              <a:rPr sz="4999" b="1">
                <a:solidFill>
                  <a:srgbClr val="012B1B"/>
                </a:solidFill>
                <a:latin typeface="Aileron Bold"/>
              </a:rPr>
              <a:t>Keyword Research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406775"/>
            <a:ext cx="6465412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true">
                <a:solidFill>
                  <a:srgbClr val="012B1B"/>
                </a:solidFill>
                <a:latin typeface="Aileron Bold"/>
                <a:ea typeface="Aileron Bold"/>
                <a:cs typeface="Aileron Bold"/>
                <a:sym typeface="Aileron Bold"/>
              </a:rPr>
              <a:t/>
            </a:r>
            <a:r>
              <a:rPr sz="3999" b="1">
                <a:solidFill>
                  <a:srgbClr val="012B1B"/>
                </a:solidFill>
                <a:latin typeface="Aileron Bold"/>
              </a:rPr>
              <a:t>Identifying Core Keywords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9488" y="4910774"/>
            <a:ext cx="4965558" cy="175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012B1B"/>
                </a:solidFill>
                <a:latin typeface="Aileron"/>
              </a:rPr>
              <a:t>Core keywords are the foundational terms that directly relate to your business and target audience's searches, acting as the cornerstone of your SEO strategy.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509591"/>
            <a:ext cx="14649742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00"/>
              </a:lnSpc>
            </a:pPr>
            <a:r>
              <a:rPr lang="en-US" sz="5000" spc="505">
                <a:solidFill>
                  <a:srgbClr val="B9F1D1"/>
                </a:solidFill>
                <a:latin typeface="Decalotype"/>
                <a:ea typeface="Decalotype"/>
                <a:cs typeface="Decalotype"/>
                <a:sym typeface="Decalotype"/>
              </a:rPr>
              <a:t/>
            </a:r>
            <a:r>
              <a:rPr sz="5000">
                <a:solidFill>
                  <a:srgbClr val="B9F1D1"/>
                </a:solidFill>
                <a:latin typeface="Decalotype"/>
              </a:rPr>
              <a:t>On-Page Optimization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901196"/>
            <a:ext cx="5763777" cy="1406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FFFFFF"/>
                </a:solidFill>
                <a:latin typeface="Aileron"/>
              </a:rPr>
              <a:t>Optimizing title tags with relevant keywords helps search engines understand the content of your page, improving your search ranking and click-through rate.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6926694"/>
            <a:ext cx="5763777" cy="1406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FFFFFF"/>
                </a:solidFill>
                <a:latin typeface="Aileron"/>
              </a:rPr>
              <a:t>A compelling meta description encourages users to click on your search result, acting as a brief advertisement for your webpage's content.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402855" y="1401855"/>
            <a:ext cx="8885145" cy="8885145"/>
            <a:chOff x="0" y="0"/>
            <a:chExt cx="6350000" cy="6350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solidFill>
              <a:srgbClr val="B9F1D1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9915121" y="1914121"/>
            <a:ext cx="8372879" cy="8372879"/>
            <a:chOff x="0" y="0"/>
            <a:chExt cx="6350000" cy="635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blipFill>
              <a:blip r:embed="rId2"/>
              <a:stretch>
                <a:fillRect l="0" t="-43634" r="-19457" b="-35551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028700" y="3167623"/>
            <a:ext cx="11061810" cy="56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b="true" sz="3999" spc="-95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sz="3999" b="1">
                <a:solidFill>
                  <a:srgbClr val="B9F1D1"/>
                </a:solidFill>
                <a:latin typeface="Decalotype Bold"/>
              </a:rPr>
              <a:t>Title Tag Optimization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6190094"/>
            <a:ext cx="6969818" cy="56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b="true" sz="3999" spc="-95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sz="3999" b="1">
                <a:solidFill>
                  <a:srgbClr val="B9F1D1"/>
                </a:solidFill>
                <a:latin typeface="Decalotype Bold"/>
              </a:rPr>
              <a:t>Meta Description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29C9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46556" y="2722245"/>
            <a:ext cx="10858482" cy="554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89"/>
              </a:lnSpc>
            </a:pPr>
            <a:r>
              <a:rPr lang="en-US" b="true" sz="3899" spc="-93">
                <a:solidFill>
                  <a:srgbClr val="000000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THE ROLE OF LEADERSHIP IN CRISIS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682782" y="4168420"/>
            <a:ext cx="4250831" cy="472377"/>
            <a:chOff x="0" y="0"/>
            <a:chExt cx="3949753" cy="43892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949753" cy="438920"/>
            </a:xfrm>
            <a:custGeom>
              <a:avLst/>
              <a:gdLst/>
              <a:ahLst/>
              <a:cxnLst/>
              <a:rect r="r" b="b" t="t" l="l"/>
              <a:pathLst>
                <a:path h="438920" w="3949753">
                  <a:moveTo>
                    <a:pt x="0" y="0"/>
                  </a:moveTo>
                  <a:lnTo>
                    <a:pt x="3949753" y="0"/>
                  </a:lnTo>
                  <a:lnTo>
                    <a:pt x="3949753" y="438920"/>
                  </a:lnTo>
                  <a:lnTo>
                    <a:pt x="0" y="43892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8240375" y="0"/>
            <a:ext cx="47625" cy="10287000"/>
            <a:chOff x="0" y="0"/>
            <a:chExt cx="12543" cy="270933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543" cy="2709333"/>
            </a:xfrm>
            <a:custGeom>
              <a:avLst/>
              <a:gdLst/>
              <a:ahLst/>
              <a:cxnLst/>
              <a:rect r="r" b="b" t="t" l="l"/>
              <a:pathLst>
                <a:path h="2709333" w="12543">
                  <a:moveTo>
                    <a:pt x="0" y="0"/>
                  </a:moveTo>
                  <a:lnTo>
                    <a:pt x="12543" y="0"/>
                  </a:lnTo>
                  <a:lnTo>
                    <a:pt x="12543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12B1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12543" cy="27379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646556" y="3676650"/>
            <a:ext cx="6782776" cy="1466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1999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Highlight the critical role leaders play in stabilizing organizations during crises and periods of uncertainty. Leaders provide direction and instill confidence.</a:t>
            </a:r>
          </a:p>
          <a:p>
            <a:pPr algn="l">
              <a:lnSpc>
                <a:spcPts val="2999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646556" y="7273287"/>
            <a:ext cx="6955124" cy="1466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1999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Outline how uncertainty, when managed effectively, can be a catalyst for innovation and positive change. This can lead to new opportunities.</a:t>
            </a:r>
          </a:p>
          <a:p>
            <a:pPr algn="l">
              <a:lnSpc>
                <a:spcPts val="2999"/>
              </a:lnSpc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646556" y="6305550"/>
            <a:ext cx="12684390" cy="56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b="true" sz="3999" spc="-95">
                <a:solidFill>
                  <a:srgbClr val="000000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THE OPPORTUNITY FOR TRANSFORMATION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05490" y="537951"/>
            <a:ext cx="17734885" cy="10237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19"/>
              </a:lnSpc>
            </a:pPr>
            <a:r>
              <a:rPr lang="en-US" b="true" sz="7108" spc="-170">
                <a:solidFill>
                  <a:srgbClr val="000000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Why Leadership Matters More Than Ever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5685237"/>
            <a:ext cx="7108847" cy="3633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459"/>
              </a:lnSpc>
            </a:pPr>
            <a:r>
              <a:rPr lang="en-US" b="true" sz="8599" spc="-206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lang="en-US" sz="8599" spc="-206" b="true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sz="8599" b="1">
                <a:solidFill>
                  <a:srgbClr val="B9F1D1"/>
                </a:solidFill>
                <a:latin typeface="Decalotype Bold"/>
              </a:rPr>
              <a:t>PPC Advertising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402855" y="1401855"/>
            <a:ext cx="8885145" cy="8885145"/>
            <a:chOff x="0" y="0"/>
            <a:chExt cx="6350000" cy="6350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solidFill>
              <a:srgbClr val="B9F1D1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5" id="5"/>
          <p:cNvGrpSpPr/>
          <p:nvPr/>
        </p:nvGrpSpPr>
        <p:grpSpPr>
          <a:xfrm rot="0">
            <a:off x="9915121" y="1914121"/>
            <a:ext cx="8372879" cy="8372879"/>
            <a:chOff x="0" y="0"/>
            <a:chExt cx="6350000" cy="6350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blipFill>
              <a:blip r:embed="rId2"/>
              <a:stretch>
                <a:fillRect l="-27058" t="0" r="-23035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1028700" y="4239967"/>
            <a:ext cx="7108847" cy="123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459"/>
              </a:lnSpc>
            </a:pPr>
            <a:r>
              <a:rPr lang="en-US" b="true" sz="8599" spc="-206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02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B9F1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366160" y="3406775"/>
            <a:ext cx="5160381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true">
                <a:solidFill>
                  <a:srgbClr val="012B1B"/>
                </a:solidFill>
                <a:latin typeface="Aileron Bold"/>
                <a:ea typeface="Aileron Bold"/>
                <a:cs typeface="Aileron Bold"/>
                <a:sym typeface="Aileron Bold"/>
              </a:rPr>
              <a:t/>
            </a:r>
            <a:r>
              <a:rPr sz="3999" b="1">
                <a:solidFill>
                  <a:srgbClr val="012B1B"/>
                </a:solidFill>
                <a:latin typeface="Aileron Bold"/>
              </a:rPr>
              <a:t>Targeting Options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366160" y="4910774"/>
            <a:ext cx="5339711" cy="175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012B1B"/>
                </a:solidFill>
                <a:latin typeface="Aileron"/>
              </a:rPr>
              <a:t>Precise targeting based on demographics, interests, and location helps ensure your ads reach the right audience, improving conversion rates.</a:t>
            </a:r>
          </a:p>
          <a:p>
            <a:pPr algn="l">
              <a:lnSpc>
                <a:spcPts val="2800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885825"/>
            <a:ext cx="16230600" cy="8953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99"/>
              </a:lnSpc>
            </a:pPr>
            <a:r>
              <a:rPr lang="en-US" sz="4999" spc="504" b="true">
                <a:solidFill>
                  <a:srgbClr val="012B1B"/>
                </a:solidFill>
                <a:latin typeface="Aileron Bold"/>
                <a:ea typeface="Aileron Bold"/>
                <a:cs typeface="Aileron Bold"/>
                <a:sym typeface="Aileron Bold"/>
              </a:rPr>
              <a:t/>
            </a:r>
            <a:r>
              <a:rPr sz="4999" b="1">
                <a:solidFill>
                  <a:srgbClr val="012B1B"/>
                </a:solidFill>
                <a:latin typeface="Aileron Bold"/>
              </a:rPr>
              <a:t>Campaign Structure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406775"/>
            <a:ext cx="6465412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true">
                <a:solidFill>
                  <a:srgbClr val="012B1B"/>
                </a:solidFill>
                <a:latin typeface="Aileron Bold"/>
                <a:ea typeface="Aileron Bold"/>
                <a:cs typeface="Aileron Bold"/>
                <a:sym typeface="Aileron Bold"/>
              </a:rPr>
              <a:t/>
            </a:r>
            <a:r>
              <a:rPr sz="3999" b="1">
                <a:solidFill>
                  <a:srgbClr val="012B1B"/>
                </a:solidFill>
                <a:latin typeface="Aileron Bold"/>
              </a:rPr>
              <a:t>Ad Groups &amp; Keywords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9488" y="4910774"/>
            <a:ext cx="4965558" cy="175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012B1B"/>
                </a:solidFill>
                <a:latin typeface="Aileron"/>
              </a:rPr>
              <a:t>Well-organized ad groups containing closely related keywords are essential for creating relevant ads and maximizing your Quality Score.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509591"/>
            <a:ext cx="14649742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00"/>
              </a:lnSpc>
            </a:pPr>
            <a:r>
              <a:rPr lang="en-US" sz="5000" spc="505">
                <a:solidFill>
                  <a:srgbClr val="B9F1D1"/>
                </a:solidFill>
                <a:latin typeface="Decalotype"/>
                <a:ea typeface="Decalotype"/>
                <a:cs typeface="Decalotype"/>
                <a:sym typeface="Decalotype"/>
              </a:rPr>
              <a:t/>
            </a:r>
            <a:r>
              <a:rPr sz="5000">
                <a:solidFill>
                  <a:srgbClr val="B9F1D1"/>
                </a:solidFill>
                <a:latin typeface="Decalotype"/>
              </a:rPr>
              <a:t>Ad Copy Optimization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901196"/>
            <a:ext cx="5763777" cy="1406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FFFFFF"/>
                </a:solidFill>
                <a:latin typeface="Aileron"/>
              </a:rPr>
              <a:t>Crafting attention-grabbing headlines that include keywords and a clear value proposition encourages users to click on your ads.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6926694"/>
            <a:ext cx="5763777" cy="1406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FFFFFF"/>
                </a:solidFill>
                <a:latin typeface="Aileron"/>
              </a:rPr>
              <a:t>A strong call to action prompts users to take the desired action, such as visiting your website, making a purchase, or filling out a form.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402855" y="1401855"/>
            <a:ext cx="8885145" cy="8885145"/>
            <a:chOff x="0" y="0"/>
            <a:chExt cx="6350000" cy="6350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solidFill>
              <a:srgbClr val="B9F1D1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9915121" y="1914121"/>
            <a:ext cx="8372879" cy="8372879"/>
            <a:chOff x="0" y="0"/>
            <a:chExt cx="6350000" cy="635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blipFill>
              <a:blip r:embed="rId2"/>
              <a:stretch>
                <a:fillRect l="0" t="-43634" r="-19457" b="-35551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028700" y="3167623"/>
            <a:ext cx="11061810" cy="56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b="true" sz="3999" spc="-95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sz="3999" b="1">
                <a:solidFill>
                  <a:srgbClr val="B9F1D1"/>
                </a:solidFill>
                <a:latin typeface="Decalotype Bold"/>
              </a:rPr>
              <a:t>Compelling Headlines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6190094"/>
            <a:ext cx="6969818" cy="56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b="true" sz="3999" spc="-95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sz="3999" b="1">
                <a:solidFill>
                  <a:srgbClr val="B9F1D1"/>
                </a:solidFill>
                <a:latin typeface="Decalotype Bold"/>
              </a:rPr>
              <a:t>Call to Action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5685237"/>
            <a:ext cx="7108847" cy="3633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459"/>
              </a:lnSpc>
            </a:pPr>
            <a:r>
              <a:rPr lang="en-US" b="true" sz="8599" spc="-206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lang="en-US" sz="8599" spc="-206" b="true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sz="8599" b="1">
                <a:solidFill>
                  <a:srgbClr val="B9F1D1"/>
                </a:solidFill>
                <a:latin typeface="Decalotype Bold"/>
              </a:rPr>
              <a:t>Social Media Marketing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402855" y="1401855"/>
            <a:ext cx="8885145" cy="8885145"/>
            <a:chOff x="0" y="0"/>
            <a:chExt cx="6350000" cy="6350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solidFill>
              <a:srgbClr val="B9F1D1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5" id="5"/>
          <p:cNvGrpSpPr/>
          <p:nvPr/>
        </p:nvGrpSpPr>
        <p:grpSpPr>
          <a:xfrm rot="0">
            <a:off x="9915121" y="1914121"/>
            <a:ext cx="8372879" cy="8372879"/>
            <a:chOff x="0" y="0"/>
            <a:chExt cx="6350000" cy="6350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blipFill>
              <a:blip r:embed="rId2"/>
              <a:stretch>
                <a:fillRect l="-27058" t="0" r="-23035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1028700" y="4239967"/>
            <a:ext cx="7108847" cy="123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459"/>
              </a:lnSpc>
            </a:pPr>
            <a:r>
              <a:rPr lang="en-US" b="true" sz="8599" spc="-206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03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B9F1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366160" y="3406775"/>
            <a:ext cx="5160381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true">
                <a:solidFill>
                  <a:srgbClr val="012B1B"/>
                </a:solidFill>
                <a:latin typeface="Aileron Bold"/>
                <a:ea typeface="Aileron Bold"/>
                <a:cs typeface="Aileron Bold"/>
                <a:sym typeface="Aileron Bold"/>
              </a:rPr>
              <a:t/>
            </a:r>
            <a:r>
              <a:rPr sz="3999" b="1">
                <a:solidFill>
                  <a:srgbClr val="012B1B"/>
                </a:solidFill>
                <a:latin typeface="Aileron Bold"/>
              </a:rPr>
              <a:t>Content Mix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366160" y="4910774"/>
            <a:ext cx="5339711" cy="175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012B1B"/>
                </a:solidFill>
                <a:latin typeface="Aileron"/>
              </a:rPr>
              <a:t>Developing a diverse content mix that includes text, images, videos, and interactive elements keeps your audience engaged and interested.</a:t>
            </a:r>
          </a:p>
          <a:p>
            <a:pPr algn="l">
              <a:lnSpc>
                <a:spcPts val="2800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885825"/>
            <a:ext cx="16230600" cy="8953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99"/>
              </a:lnSpc>
            </a:pPr>
            <a:r>
              <a:rPr lang="en-US" sz="4999" spc="504" b="true">
                <a:solidFill>
                  <a:srgbClr val="012B1B"/>
                </a:solidFill>
                <a:latin typeface="Aileron Bold"/>
                <a:ea typeface="Aileron Bold"/>
                <a:cs typeface="Aileron Bold"/>
                <a:sym typeface="Aileron Bold"/>
              </a:rPr>
              <a:t/>
            </a:r>
            <a:r>
              <a:rPr sz="4999" b="1">
                <a:solidFill>
                  <a:srgbClr val="012B1B"/>
                </a:solidFill>
                <a:latin typeface="Aileron Bold"/>
              </a:rPr>
              <a:t>Platform Strategy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406775"/>
            <a:ext cx="6465412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true">
                <a:solidFill>
                  <a:srgbClr val="012B1B"/>
                </a:solidFill>
                <a:latin typeface="Aileron Bold"/>
                <a:ea typeface="Aileron Bold"/>
                <a:cs typeface="Aileron Bold"/>
                <a:sym typeface="Aileron Bold"/>
              </a:rPr>
              <a:t/>
            </a:r>
            <a:r>
              <a:rPr sz="3999" b="1">
                <a:solidFill>
                  <a:srgbClr val="012B1B"/>
                </a:solidFill>
                <a:latin typeface="Aileron Bold"/>
              </a:rPr>
              <a:t>Audience Alignment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9488" y="4910774"/>
            <a:ext cx="4965558" cy="175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012B1B"/>
                </a:solidFill>
                <a:latin typeface="Aileron"/>
              </a:rPr>
              <a:t>Selecting social media platforms that align with your target audience's demographics and interests is crucial for maximizing reach and engagement.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509591"/>
            <a:ext cx="14649742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00"/>
              </a:lnSpc>
            </a:pPr>
            <a:r>
              <a:rPr lang="en-US" sz="5000" spc="505">
                <a:solidFill>
                  <a:srgbClr val="B9F1D1"/>
                </a:solidFill>
                <a:latin typeface="Decalotype"/>
                <a:ea typeface="Decalotype"/>
                <a:cs typeface="Decalotype"/>
                <a:sym typeface="Decalotype"/>
              </a:rPr>
              <a:t/>
            </a:r>
            <a:r>
              <a:rPr sz="5000">
                <a:solidFill>
                  <a:srgbClr val="B9F1D1"/>
                </a:solidFill>
                <a:latin typeface="Decalotype"/>
              </a:rPr>
              <a:t>Engagement Techniques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901196"/>
            <a:ext cx="5763777" cy="1406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FFFFFF"/>
                </a:solidFill>
                <a:latin typeface="Aileron"/>
              </a:rPr>
              <a:t>Building a strong online community fosters brand loyalty and encourages user-generated content, enhancing your social media presence.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6926694"/>
            <a:ext cx="5763777" cy="1406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FFFFFF"/>
                </a:solidFill>
                <a:latin typeface="Aileron"/>
              </a:rPr>
              <a:t>Using interactive content like polls, quizzes, and contests increases engagement and encourages users to actively participate with your brand.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402855" y="1401855"/>
            <a:ext cx="8885145" cy="8885145"/>
            <a:chOff x="0" y="0"/>
            <a:chExt cx="6350000" cy="6350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solidFill>
              <a:srgbClr val="B9F1D1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9915121" y="1914121"/>
            <a:ext cx="8372879" cy="8372879"/>
            <a:chOff x="0" y="0"/>
            <a:chExt cx="6350000" cy="635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blipFill>
              <a:blip r:embed="rId2"/>
              <a:stretch>
                <a:fillRect l="0" t="-43634" r="-19457" b="-35551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028700" y="3167623"/>
            <a:ext cx="11061810" cy="56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b="true" sz="3999" spc="-95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sz="3999" b="1">
                <a:solidFill>
                  <a:srgbClr val="B9F1D1"/>
                </a:solidFill>
                <a:latin typeface="Decalotype Bold"/>
              </a:rPr>
              <a:t>Community Building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6190094"/>
            <a:ext cx="6969818" cy="56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b="true" sz="3999" spc="-95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sz="3999" b="1">
                <a:solidFill>
                  <a:srgbClr val="B9F1D1"/>
                </a:solidFill>
                <a:latin typeface="Decalotype Bold"/>
              </a:rPr>
              <a:t>Interactive Content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5685237"/>
            <a:ext cx="7108847" cy="3633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459"/>
              </a:lnSpc>
            </a:pPr>
            <a:r>
              <a:rPr lang="en-US" b="true" sz="8599" spc="-206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lang="en-US" sz="8599" spc="-206" b="true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sz="8599" b="1">
                <a:solidFill>
                  <a:srgbClr val="B9F1D1"/>
                </a:solidFill>
                <a:latin typeface="Decalotype Bold"/>
              </a:rPr>
              <a:t>Content Marketing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402855" y="1401855"/>
            <a:ext cx="8885145" cy="8885145"/>
            <a:chOff x="0" y="0"/>
            <a:chExt cx="6350000" cy="6350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solidFill>
              <a:srgbClr val="B9F1D1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5" id="5"/>
          <p:cNvGrpSpPr/>
          <p:nvPr/>
        </p:nvGrpSpPr>
        <p:grpSpPr>
          <a:xfrm rot="0">
            <a:off x="9915121" y="1914121"/>
            <a:ext cx="8372879" cy="8372879"/>
            <a:chOff x="0" y="0"/>
            <a:chExt cx="6350000" cy="6350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blipFill>
              <a:blip r:embed="rId2"/>
              <a:stretch>
                <a:fillRect l="-27058" t="0" r="-23035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1028700" y="4239967"/>
            <a:ext cx="7108847" cy="123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459"/>
              </a:lnSpc>
            </a:pPr>
            <a:r>
              <a:rPr lang="en-US" b="true" sz="8599" spc="-206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04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B9F1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366160" y="3406775"/>
            <a:ext cx="5160381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true">
                <a:solidFill>
                  <a:srgbClr val="012B1B"/>
                </a:solidFill>
                <a:latin typeface="Aileron Bold"/>
                <a:ea typeface="Aileron Bold"/>
                <a:cs typeface="Aileron Bold"/>
                <a:sym typeface="Aileron Bold"/>
              </a:rPr>
              <a:t/>
            </a:r>
            <a:r>
              <a:rPr sz="3999" b="1">
                <a:solidFill>
                  <a:srgbClr val="012B1B"/>
                </a:solidFill>
                <a:latin typeface="Aileron Bold"/>
              </a:rPr>
              <a:t>Video Marketing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366160" y="4910774"/>
            <a:ext cx="5339711" cy="175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012B1B"/>
                </a:solidFill>
                <a:latin typeface="Aileron"/>
              </a:rPr>
              <a:t>Video marketing is a powerful way to connect with your audience, showcase your products or services, and increase brand awareness.</a:t>
            </a:r>
          </a:p>
          <a:p>
            <a:pPr algn="l">
              <a:lnSpc>
                <a:spcPts val="2800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885825"/>
            <a:ext cx="16230600" cy="8953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99"/>
              </a:lnSpc>
            </a:pPr>
            <a:r>
              <a:rPr lang="en-US" sz="4999" spc="504" b="true">
                <a:solidFill>
                  <a:srgbClr val="012B1B"/>
                </a:solidFill>
                <a:latin typeface="Aileron Bold"/>
                <a:ea typeface="Aileron Bold"/>
                <a:cs typeface="Aileron Bold"/>
                <a:sym typeface="Aileron Bold"/>
              </a:rPr>
              <a:t/>
            </a:r>
            <a:r>
              <a:rPr sz="4999" b="1">
                <a:solidFill>
                  <a:srgbClr val="012B1B"/>
                </a:solidFill>
                <a:latin typeface="Aileron Bold"/>
              </a:rPr>
              <a:t>Content Creation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406775"/>
            <a:ext cx="6465412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true">
                <a:solidFill>
                  <a:srgbClr val="012B1B"/>
                </a:solidFill>
                <a:latin typeface="Aileron Bold"/>
                <a:ea typeface="Aileron Bold"/>
                <a:cs typeface="Aileron Bold"/>
                <a:sym typeface="Aileron Bold"/>
              </a:rPr>
              <a:t/>
            </a:r>
            <a:r>
              <a:rPr sz="3999" b="1">
                <a:solidFill>
                  <a:srgbClr val="012B1B"/>
                </a:solidFill>
                <a:latin typeface="Aileron Bold"/>
              </a:rPr>
              <a:t>Blog Posts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9488" y="4910774"/>
            <a:ext cx="4965558" cy="175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012B1B"/>
                </a:solidFill>
                <a:latin typeface="Aileron"/>
              </a:rPr>
              <a:t>Informative and engaging blog posts can attract potential customers, establish your brand as an authority, and improve your website's SEO.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509591"/>
            <a:ext cx="14649742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00"/>
              </a:lnSpc>
            </a:pPr>
            <a:r>
              <a:rPr lang="en-US" sz="5000" spc="505">
                <a:solidFill>
                  <a:srgbClr val="B9F1D1"/>
                </a:solidFill>
                <a:latin typeface="Decalotype"/>
                <a:ea typeface="Decalotype"/>
                <a:cs typeface="Decalotype"/>
                <a:sym typeface="Decalotype"/>
              </a:rPr>
              <a:t/>
            </a:r>
            <a:r>
              <a:rPr sz="5000">
                <a:solidFill>
                  <a:srgbClr val="B9F1D1"/>
                </a:solidFill>
                <a:latin typeface="Decalotype"/>
              </a:rPr>
              <a:t>Content Distribution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901196"/>
            <a:ext cx="5763777" cy="1406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FFFFFF"/>
                </a:solidFill>
                <a:latin typeface="Aileron"/>
              </a:rPr>
              <a:t>Sharing your content on social media platforms increases its visibility and reach, driving traffic to your website and engaging with your audience.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6926694"/>
            <a:ext cx="5763777" cy="1406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FFFFFF"/>
                </a:solidFill>
                <a:latin typeface="Aileron"/>
              </a:rPr>
              <a:t>Email marketing allows you to nurture leads, promote your content, and stay in touch with your audience, driving conversions and building customer loyalty.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402855" y="1401855"/>
            <a:ext cx="8885145" cy="8885145"/>
            <a:chOff x="0" y="0"/>
            <a:chExt cx="6350000" cy="6350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solidFill>
              <a:srgbClr val="B9F1D1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9915121" y="1914121"/>
            <a:ext cx="8372879" cy="8372879"/>
            <a:chOff x="0" y="0"/>
            <a:chExt cx="6350000" cy="635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blipFill>
              <a:blip r:embed="rId2"/>
              <a:stretch>
                <a:fillRect l="0" t="-43634" r="-19457" b="-35551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028700" y="3167623"/>
            <a:ext cx="11061810" cy="56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b="true" sz="3999" spc="-95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sz="3999" b="1">
                <a:solidFill>
                  <a:srgbClr val="B9F1D1"/>
                </a:solidFill>
                <a:latin typeface="Decalotype Bold"/>
              </a:rPr>
              <a:t>Social Sharing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6190094"/>
            <a:ext cx="6969818" cy="56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b="true" sz="3999" spc="-95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sz="3999" b="1">
                <a:solidFill>
                  <a:srgbClr val="B9F1D1"/>
                </a:solidFill>
                <a:latin typeface="Decalotype Bold"/>
              </a:rPr>
              <a:t>Email Marketing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5685237"/>
            <a:ext cx="7108847" cy="3633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459"/>
              </a:lnSpc>
            </a:pPr>
            <a:r>
              <a:rPr lang="en-US" b="true" sz="8599" spc="-206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lang="en-US" sz="8599" spc="-206" b="true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sz="8599" b="1">
                <a:solidFill>
                  <a:srgbClr val="B9F1D1"/>
                </a:solidFill>
                <a:latin typeface="Decalotype Bold"/>
              </a:rPr>
              <a:t>Email Marketing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402855" y="1401855"/>
            <a:ext cx="8885145" cy="8885145"/>
            <a:chOff x="0" y="0"/>
            <a:chExt cx="6350000" cy="6350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solidFill>
              <a:srgbClr val="B9F1D1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5" id="5"/>
          <p:cNvGrpSpPr/>
          <p:nvPr/>
        </p:nvGrpSpPr>
        <p:grpSpPr>
          <a:xfrm rot="0">
            <a:off x="9915121" y="1914121"/>
            <a:ext cx="8372879" cy="8372879"/>
            <a:chOff x="0" y="0"/>
            <a:chExt cx="6350000" cy="6350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blipFill>
              <a:blip r:embed="rId2"/>
              <a:stretch>
                <a:fillRect l="-27058" t="0" r="-23035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1028700" y="4239967"/>
            <a:ext cx="7108847" cy="123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459"/>
              </a:lnSpc>
            </a:pPr>
            <a:r>
              <a:rPr lang="en-US" b="true" sz="8599" spc="-206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05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B9F1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366160" y="3406775"/>
            <a:ext cx="5160381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true">
                <a:solidFill>
                  <a:srgbClr val="012B1B"/>
                </a:solidFill>
                <a:latin typeface="Aileron Bold"/>
                <a:ea typeface="Aileron Bold"/>
                <a:cs typeface="Aileron Bold"/>
                <a:sym typeface="Aileron Bold"/>
              </a:rPr>
              <a:t/>
            </a:r>
            <a:r>
              <a:rPr sz="3999" b="1">
                <a:solidFill>
                  <a:srgbClr val="012B1B"/>
                </a:solidFill>
                <a:latin typeface="Aileron Bold"/>
              </a:rPr>
              <a:t>Behavioral Segmentation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366160" y="4910774"/>
            <a:ext cx="5339711" cy="175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012B1B"/>
                </a:solidFill>
                <a:latin typeface="Aileron"/>
              </a:rPr>
              <a:t>Segmenting your email list based on user behavior, such as website visits and past purchases, allows you to send tailored messages that resonate with their interests.</a:t>
            </a:r>
          </a:p>
          <a:p>
            <a:pPr algn="l">
              <a:lnSpc>
                <a:spcPts val="2800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885825"/>
            <a:ext cx="16230600" cy="8953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99"/>
              </a:lnSpc>
            </a:pPr>
            <a:r>
              <a:rPr lang="en-US" sz="4999" spc="504" b="true">
                <a:solidFill>
                  <a:srgbClr val="012B1B"/>
                </a:solidFill>
                <a:latin typeface="Aileron Bold"/>
                <a:ea typeface="Aileron Bold"/>
                <a:cs typeface="Aileron Bold"/>
                <a:sym typeface="Aileron Bold"/>
              </a:rPr>
              <a:t/>
            </a:r>
            <a:r>
              <a:rPr sz="4999" b="1">
                <a:solidFill>
                  <a:srgbClr val="012B1B"/>
                </a:solidFill>
                <a:latin typeface="Aileron Bold"/>
              </a:rPr>
              <a:t>List Segmentation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406775"/>
            <a:ext cx="6465412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true">
                <a:solidFill>
                  <a:srgbClr val="012B1B"/>
                </a:solidFill>
                <a:latin typeface="Aileron Bold"/>
                <a:ea typeface="Aileron Bold"/>
                <a:cs typeface="Aileron Bold"/>
                <a:sym typeface="Aileron Bold"/>
              </a:rPr>
              <a:t/>
            </a:r>
            <a:r>
              <a:rPr sz="3999" b="1">
                <a:solidFill>
                  <a:srgbClr val="012B1B"/>
                </a:solidFill>
                <a:latin typeface="Aileron Bold"/>
              </a:rPr>
              <a:t>Demographic Segmentation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9488" y="4910774"/>
            <a:ext cx="4965558" cy="175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012B1B"/>
                </a:solidFill>
                <a:latin typeface="Aileron"/>
              </a:rPr>
              <a:t>Segmenting your email list based on demographic data allows you to personalize your messages and target specific groups with relevant offers.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509591"/>
            <a:ext cx="14649742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00"/>
              </a:lnSpc>
            </a:pPr>
            <a:r>
              <a:rPr lang="en-US" sz="5000" spc="505">
                <a:solidFill>
                  <a:srgbClr val="B9F1D1"/>
                </a:solidFill>
                <a:latin typeface="Decalotype"/>
                <a:ea typeface="Decalotype"/>
                <a:cs typeface="Decalotype"/>
                <a:sym typeface="Decalotype"/>
              </a:rPr>
              <a:t/>
            </a:r>
            <a:r>
              <a:rPr sz="5000">
                <a:solidFill>
                  <a:srgbClr val="B9F1D1"/>
                </a:solidFill>
                <a:latin typeface="Decalotype"/>
              </a:rPr>
              <a:t>Campaign Optimization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901196"/>
            <a:ext cx="5763777" cy="1406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FFFFFF"/>
                </a:solidFill>
                <a:latin typeface="Aileron"/>
              </a:rPr>
              <a:t>A/B testing different email elements, such as subject lines and calls to action, helps you optimize your campaigns for maximum engagement and conversion rates.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6926694"/>
            <a:ext cx="5763777" cy="1406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FFFFFF"/>
                </a:solidFill>
                <a:latin typeface="Aileron"/>
              </a:rPr>
              <a:t>Tracking key email marketing metrics, such as open rates and click-through rates, provides valuable insights into the performance of your campaigns and allows you to make data-driven improvements.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402855" y="1401855"/>
            <a:ext cx="8885145" cy="8885145"/>
            <a:chOff x="0" y="0"/>
            <a:chExt cx="6350000" cy="6350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solidFill>
              <a:srgbClr val="B9F1D1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9915121" y="1914121"/>
            <a:ext cx="8372879" cy="8372879"/>
            <a:chOff x="0" y="0"/>
            <a:chExt cx="6350000" cy="635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blipFill>
              <a:blip r:embed="rId2"/>
              <a:stretch>
                <a:fillRect l="0" t="-43634" r="-19457" b="-35551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028700" y="3167623"/>
            <a:ext cx="11061810" cy="56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b="true" sz="3999" spc="-95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sz="3999" b="1">
                <a:solidFill>
                  <a:srgbClr val="B9F1D1"/>
                </a:solidFill>
                <a:latin typeface="Decalotype Bold"/>
              </a:rPr>
              <a:t>A/B Testing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6190094"/>
            <a:ext cx="6969818" cy="56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b="true" sz="3999" spc="-95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sz="3999" b="1">
                <a:solidFill>
                  <a:srgbClr val="B9F1D1"/>
                </a:solidFill>
                <a:latin typeface="Decalotype Bold"/>
              </a:rPr>
              <a:t>Tracking Metrics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5685237"/>
            <a:ext cx="7108847" cy="3633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459"/>
              </a:lnSpc>
            </a:pPr>
            <a:r>
              <a:rPr lang="en-US" b="true" sz="8599" spc="-206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lang="en-US" sz="8599" spc="-206" b="true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sz="8599" b="1">
                <a:solidFill>
                  <a:srgbClr val="B9F1D1"/>
                </a:solidFill>
                <a:latin typeface="Decalotype Bold"/>
              </a:rPr>
              <a:t>Analytics &amp; Measurement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402855" y="1401855"/>
            <a:ext cx="8885145" cy="8885145"/>
            <a:chOff x="0" y="0"/>
            <a:chExt cx="6350000" cy="6350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solidFill>
              <a:srgbClr val="B9F1D1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5" id="5"/>
          <p:cNvGrpSpPr/>
          <p:nvPr/>
        </p:nvGrpSpPr>
        <p:grpSpPr>
          <a:xfrm rot="0">
            <a:off x="9915121" y="1914121"/>
            <a:ext cx="8372879" cy="8372879"/>
            <a:chOff x="0" y="0"/>
            <a:chExt cx="6350000" cy="6350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blipFill>
              <a:blip r:embed="rId2"/>
              <a:stretch>
                <a:fillRect l="-27058" t="0" r="-23035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1028700" y="4239967"/>
            <a:ext cx="7108847" cy="123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459"/>
              </a:lnSpc>
            </a:pPr>
            <a:r>
              <a:rPr lang="en-US" b="true" sz="8599" spc="-206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06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>
          <a:srgbClr val="B9F1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366160" y="3406775"/>
            <a:ext cx="5160381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true">
                <a:solidFill>
                  <a:srgbClr val="012B1B"/>
                </a:solidFill>
                <a:latin typeface="Aileron Bold"/>
                <a:ea typeface="Aileron Bold"/>
                <a:cs typeface="Aileron Bold"/>
                <a:sym typeface="Aileron Bold"/>
              </a:rPr>
              <a:t/>
            </a:r>
            <a:r>
              <a:rPr sz="3999" b="1">
                <a:solidFill>
                  <a:srgbClr val="012B1B"/>
                </a:solidFill>
                <a:latin typeface="Aileron Bold"/>
              </a:rPr>
              <a:t>Conversion Rates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366160" y="4910774"/>
            <a:ext cx="5339711" cy="175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012B1B"/>
                </a:solidFill>
                <a:latin typeface="Aileron"/>
              </a:rPr>
              <a:t>Tracking conversion rates helps you understand how well your marketing campaigns are converting visitors into customers or leads.</a:t>
            </a:r>
          </a:p>
          <a:p>
            <a:pPr algn="l">
              <a:lnSpc>
                <a:spcPts val="2800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885825"/>
            <a:ext cx="16230600" cy="8953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99"/>
              </a:lnSpc>
            </a:pPr>
            <a:r>
              <a:rPr lang="en-US" sz="4999" spc="504" b="true">
                <a:solidFill>
                  <a:srgbClr val="012B1B"/>
                </a:solidFill>
                <a:latin typeface="Aileron Bold"/>
                <a:ea typeface="Aileron Bold"/>
                <a:cs typeface="Aileron Bold"/>
                <a:sym typeface="Aileron Bold"/>
              </a:rPr>
              <a:t/>
            </a:r>
            <a:r>
              <a:rPr sz="4999" b="1">
                <a:solidFill>
                  <a:srgbClr val="012B1B"/>
                </a:solidFill>
                <a:latin typeface="Aileron Bold"/>
              </a:rPr>
              <a:t>Key Performance Indicators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406775"/>
            <a:ext cx="6465412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b="true">
                <a:solidFill>
                  <a:srgbClr val="012B1B"/>
                </a:solidFill>
                <a:latin typeface="Aileron Bold"/>
                <a:ea typeface="Aileron Bold"/>
                <a:cs typeface="Aileron Bold"/>
                <a:sym typeface="Aileron Bold"/>
              </a:rPr>
              <a:t/>
            </a:r>
            <a:r>
              <a:rPr sz="3999" b="1">
                <a:solidFill>
                  <a:srgbClr val="012B1B"/>
                </a:solidFill>
                <a:latin typeface="Aileron Bold"/>
              </a:rPr>
              <a:t>Website Traffic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9488" y="4910774"/>
            <a:ext cx="4965558" cy="1758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lang="en-US" sz="2000">
                <a:solidFill>
                  <a:srgbClr val="012B1B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012B1B"/>
                </a:solidFill>
                <a:latin typeface="Aileron"/>
              </a:rPr>
              <a:t>Monitoring website traffic provides insights into the effectiveness of your digital marketing efforts in driving visitors to your site.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2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509591"/>
            <a:ext cx="14649742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00"/>
              </a:lnSpc>
            </a:pPr>
            <a:r>
              <a:rPr lang="en-US" sz="5000" spc="505">
                <a:solidFill>
                  <a:srgbClr val="B9F1D1"/>
                </a:solidFill>
                <a:latin typeface="Decalotype"/>
                <a:ea typeface="Decalotype"/>
                <a:cs typeface="Decalotype"/>
                <a:sym typeface="Decalotype"/>
              </a:rPr>
              <a:t/>
            </a:r>
            <a:r>
              <a:rPr sz="5000">
                <a:solidFill>
                  <a:srgbClr val="B9F1D1"/>
                </a:solidFill>
                <a:latin typeface="Decalotype"/>
              </a:rPr>
              <a:t>Reporting &amp; Analysis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901196"/>
            <a:ext cx="5763777" cy="1406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FFFFFF"/>
                </a:solidFill>
                <a:latin typeface="Aileron"/>
              </a:rPr>
              <a:t>Visualizing your marketing data through charts and graphs makes it easier to identify trends and patterns, facilitating data-driven decision-making.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6926694"/>
            <a:ext cx="5763777" cy="1406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Aileron"/>
                <a:ea typeface="Aileron"/>
                <a:cs typeface="Aileron"/>
                <a:sym typeface="Aileron"/>
              </a:rPr>
              <a:t/>
            </a:r>
            <a:r>
              <a:rPr sz="2000">
                <a:solidFill>
                  <a:srgbClr val="FFFFFF"/>
                </a:solidFill>
                <a:latin typeface="Aileron"/>
              </a:rPr>
              <a:t>Creating regular performance reports allows you to track progress towards your marketing goals and identify areas for improvement.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402855" y="1401855"/>
            <a:ext cx="8885145" cy="8885145"/>
            <a:chOff x="0" y="0"/>
            <a:chExt cx="6350000" cy="6350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solidFill>
              <a:srgbClr val="B9F1D1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9915121" y="1914121"/>
            <a:ext cx="8372879" cy="8372879"/>
            <a:chOff x="0" y="0"/>
            <a:chExt cx="6350000" cy="635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0" y="6350000"/>
                  </a:moveTo>
                  <a:lnTo>
                    <a:pt x="6350000" y="6350000"/>
                  </a:lnTo>
                  <a:lnTo>
                    <a:pt x="6350000" y="0"/>
                  </a:lnTo>
                  <a:cubicBezTo>
                    <a:pt x="2843530" y="0"/>
                    <a:pt x="0" y="2843530"/>
                    <a:pt x="0" y="6350000"/>
                  </a:cubicBezTo>
                  <a:close/>
                </a:path>
              </a:pathLst>
            </a:custGeom>
            <a:blipFill>
              <a:blip r:embed="rId2"/>
              <a:stretch>
                <a:fillRect l="0" t="-43634" r="-19457" b="-35551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028700" y="3167623"/>
            <a:ext cx="11061810" cy="56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b="true" sz="3999" spc="-95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sz="3999" b="1">
                <a:solidFill>
                  <a:srgbClr val="B9F1D1"/>
                </a:solidFill>
                <a:latin typeface="Decalotype Bold"/>
              </a:rPr>
              <a:t>Data Visualization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6190094"/>
            <a:ext cx="6969818" cy="565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9"/>
              </a:lnSpc>
            </a:pPr>
            <a:r>
              <a:rPr lang="en-US" b="true" sz="3999" spc="-95">
                <a:solidFill>
                  <a:srgbClr val="B9F1D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/>
            </a:r>
            <a:r>
              <a:rPr sz="3999" b="1">
                <a:solidFill>
                  <a:srgbClr val="B9F1D1"/>
                </a:solidFill>
                <a:latin typeface="Decalotype Bold"/>
              </a:rPr>
              <a:t>Performance Reporting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DAG5Ic_1yac</dc:identifier>
  <dcterms:modified xsi:type="dcterms:W3CDTF">2011-08-01T06:04:30Z</dcterms:modified>
  <cp:revision>1</cp:revision>
  <dc:title>Background</dc:title>
</cp:coreProperties>
</file>