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Decalotype Bold" charset="1" panose="00000800000000000000"/>
      <p:regular r:id="rId27"/>
    </p:embeddedFont>
    <p:embeddedFont>
      <p:font typeface="Aileron" charset="1" panose="00000500000000000000"/>
      <p:regular r:id="rId28"/>
    </p:embeddedFont>
    <p:embeddedFont>
      <p:font typeface="Aileron Bold" charset="1" panose="00000800000000000000"/>
      <p:regular r:id="rId29"/>
    </p:embeddedFont>
    <p:embeddedFont>
      <p:font typeface="Decalotype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6670" t="-66514" r="-4626" b="-3043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0" y="0"/>
            <a:ext cx="3925039" cy="2815438"/>
            <a:chOff x="0" y="0"/>
            <a:chExt cx="6974722" cy="50029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74722" cy="5002981"/>
            </a:xfrm>
            <a:custGeom>
              <a:avLst/>
              <a:gdLst/>
              <a:ahLst/>
              <a:cxnLst/>
              <a:rect r="r" b="b" t="t" l="l"/>
              <a:pathLst>
                <a:path h="5002981" w="6974722">
                  <a:moveTo>
                    <a:pt x="0" y="5002981"/>
                  </a:moveTo>
                  <a:lnTo>
                    <a:pt x="6974722" y="5002981"/>
                  </a:lnTo>
                  <a:lnTo>
                    <a:pt x="6974722" y="0"/>
                  </a:lnTo>
                  <a:cubicBezTo>
                    <a:pt x="3123280" y="0"/>
                    <a:pt x="0" y="2240335"/>
                    <a:pt x="0" y="5002981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4831008"/>
            <a:ext cx="7282096" cy="553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8"/>
              </a:lnSpc>
            </a:pPr>
            <a:r>
              <a:rPr lang="en-US" b="true" sz="7405" spc="-222">
                <a:solidFill>
                  <a:srgbClr val="012B1B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7405" b="1">
                <a:solidFill>
                  <a:srgbClr val="012B1B"/>
                </a:solidFill>
                <a:latin typeface="Decalotype Bold"/>
              </a:rPr>
              <a:t>Welcome to the landing page</a:t>
            </a:r>
          </a:p>
          <a:p>
            <a:pPr algn="l">
              <a:lnSpc>
                <a:spcPts val="8738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9488" y="1837770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012B1B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AGENDA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3006" y="3591439"/>
            <a:ext cx="7945506" cy="1282714"/>
            <a:chOff x="0" y="0"/>
            <a:chExt cx="812800" cy="1312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31218"/>
            </a:xfrm>
            <a:custGeom>
              <a:avLst/>
              <a:gdLst/>
              <a:ahLst/>
              <a:cxnLst/>
              <a:rect r="r" b="b" t="t" l="l"/>
              <a:pathLst>
                <a:path h="1312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1218"/>
                  </a:lnTo>
                  <a:lnTo>
                    <a:pt x="0" y="131218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812800" cy="15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939385" y="3994671"/>
            <a:ext cx="566545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none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3000">
                <a:solidFill>
                  <a:srgbClr val="FFFFFF"/>
                </a:solidFill>
                <a:latin typeface="Aileron"/>
              </a:rPr>
              <a:t>Introduction to Love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591439"/>
            <a:ext cx="7945506" cy="1282714"/>
            <a:chOff x="0" y="0"/>
            <a:chExt cx="812800" cy="1312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31218"/>
            </a:xfrm>
            <a:custGeom>
              <a:avLst/>
              <a:gdLst/>
              <a:ahLst/>
              <a:cxnLst/>
              <a:rect r="r" b="b" t="t" l="l"/>
              <a:pathLst>
                <a:path h="1312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1218"/>
                  </a:lnTo>
                  <a:lnTo>
                    <a:pt x="0" y="131218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12800" cy="15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591439"/>
            <a:ext cx="1282714" cy="1282714"/>
            <a:chOff x="0" y="0"/>
            <a:chExt cx="1336129" cy="13361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6129" cy="1336129"/>
            </a:xfrm>
            <a:custGeom>
              <a:avLst/>
              <a:gdLst/>
              <a:ahLst/>
              <a:cxnLst/>
              <a:rect r="r" b="b" t="t" l="l"/>
              <a:pathLst>
                <a:path h="1336129" w="1336129">
                  <a:moveTo>
                    <a:pt x="0" y="0"/>
                  </a:moveTo>
                  <a:lnTo>
                    <a:pt x="1336129" y="0"/>
                  </a:lnTo>
                  <a:lnTo>
                    <a:pt x="1336129" y="1336129"/>
                  </a:lnTo>
                  <a:lnTo>
                    <a:pt x="0" y="1336129"/>
                  </a:lnTo>
                  <a:close/>
                </a:path>
              </a:pathLst>
            </a:custGeom>
            <a:solidFill>
              <a:srgbClr val="29C97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36129" cy="1383754"/>
            </a:xfrm>
            <a:prstGeom prst="rect">
              <a:avLst/>
            </a:prstGeom>
          </p:spPr>
          <p:txBody>
            <a:bodyPr anchor="ctr" rtlCol="false" tIns="54971" lIns="54971" bIns="54971" rIns="54971"/>
            <a:lstStyle/>
            <a:p>
              <a:pPr algn="ctr">
                <a:lnSpc>
                  <a:spcPts val="3779"/>
                </a:lnSpc>
              </a:pPr>
              <a:r>
                <a:rPr lang="en-US" b="true" sz="2699" spc="272">
                  <a:solidFill>
                    <a:srgbClr val="012B1B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01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675080" y="3994671"/>
            <a:ext cx="54230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sng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  <a:hlinkClick r:id="rId2" action="ppaction://hlinksldjump"/>
              </a:rPr>
              <a:t/>
            </a:r>
            <a:r>
              <a:rPr sz="3000">
                <a:solidFill>
                  <a:srgbClr val="FFFFFF"/>
                </a:solidFill>
                <a:latin typeface="Aileron"/>
              </a:rPr>
              <a:t>The Psychology of Love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5063595"/>
            <a:ext cx="7945506" cy="1282714"/>
            <a:chOff x="0" y="0"/>
            <a:chExt cx="812800" cy="1312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31218"/>
            </a:xfrm>
            <a:custGeom>
              <a:avLst/>
              <a:gdLst/>
              <a:ahLst/>
              <a:cxnLst/>
              <a:rect r="r" b="b" t="t" l="l"/>
              <a:pathLst>
                <a:path h="1312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1218"/>
                  </a:lnTo>
                  <a:lnTo>
                    <a:pt x="0" y="131218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12800" cy="15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5063595"/>
            <a:ext cx="1282714" cy="1282714"/>
            <a:chOff x="0" y="0"/>
            <a:chExt cx="1336129" cy="13361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6129" cy="1336129"/>
            </a:xfrm>
            <a:custGeom>
              <a:avLst/>
              <a:gdLst/>
              <a:ahLst/>
              <a:cxnLst/>
              <a:rect r="r" b="b" t="t" l="l"/>
              <a:pathLst>
                <a:path h="1336129" w="1336129">
                  <a:moveTo>
                    <a:pt x="0" y="0"/>
                  </a:moveTo>
                  <a:lnTo>
                    <a:pt x="1336129" y="0"/>
                  </a:lnTo>
                  <a:lnTo>
                    <a:pt x="1336129" y="1336129"/>
                  </a:lnTo>
                  <a:lnTo>
                    <a:pt x="0" y="1336129"/>
                  </a:lnTo>
                  <a:close/>
                </a:path>
              </a:pathLst>
            </a:custGeom>
            <a:solidFill>
              <a:srgbClr val="29C97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36129" cy="1383754"/>
            </a:xfrm>
            <a:prstGeom prst="rect">
              <a:avLst/>
            </a:prstGeom>
          </p:spPr>
          <p:txBody>
            <a:bodyPr anchor="ctr" rtlCol="false" tIns="54971" lIns="54971" bIns="54971" rIns="54971"/>
            <a:lstStyle/>
            <a:p>
              <a:pPr algn="ctr">
                <a:lnSpc>
                  <a:spcPts val="3779"/>
                </a:lnSpc>
              </a:pPr>
              <a:r>
                <a:rPr lang="en-US" b="true" sz="2699" spc="272">
                  <a:solidFill>
                    <a:srgbClr val="012B1B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02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75080" y="5466827"/>
            <a:ext cx="54230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none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3000">
                <a:solidFill>
                  <a:srgbClr val="FFFFFF"/>
                </a:solidFill>
                <a:latin typeface="Aileron"/>
              </a:rPr>
              <a:t>The Art of Expressing Love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6535751"/>
            <a:ext cx="7945506" cy="1282714"/>
            <a:chOff x="0" y="0"/>
            <a:chExt cx="812800" cy="1312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131218"/>
            </a:xfrm>
            <a:custGeom>
              <a:avLst/>
              <a:gdLst/>
              <a:ahLst/>
              <a:cxnLst/>
              <a:rect r="r" b="b" t="t" l="l"/>
              <a:pathLst>
                <a:path h="1312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1218"/>
                  </a:lnTo>
                  <a:lnTo>
                    <a:pt x="0" y="131218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12800" cy="15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6535751"/>
            <a:ext cx="1282714" cy="1282714"/>
            <a:chOff x="0" y="0"/>
            <a:chExt cx="1336129" cy="13361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36129" cy="1336129"/>
            </a:xfrm>
            <a:custGeom>
              <a:avLst/>
              <a:gdLst/>
              <a:ahLst/>
              <a:cxnLst/>
              <a:rect r="r" b="b" t="t" l="l"/>
              <a:pathLst>
                <a:path h="1336129" w="1336129">
                  <a:moveTo>
                    <a:pt x="0" y="0"/>
                  </a:moveTo>
                  <a:lnTo>
                    <a:pt x="1336129" y="0"/>
                  </a:lnTo>
                  <a:lnTo>
                    <a:pt x="1336129" y="1336129"/>
                  </a:lnTo>
                  <a:lnTo>
                    <a:pt x="0" y="1336129"/>
                  </a:lnTo>
                  <a:close/>
                </a:path>
              </a:pathLst>
            </a:custGeom>
            <a:solidFill>
              <a:srgbClr val="29C97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336129" cy="1383754"/>
            </a:xfrm>
            <a:prstGeom prst="rect">
              <a:avLst/>
            </a:prstGeom>
          </p:spPr>
          <p:txBody>
            <a:bodyPr anchor="ctr" rtlCol="false" tIns="54971" lIns="54971" bIns="54971" rIns="54971"/>
            <a:lstStyle/>
            <a:p>
              <a:pPr algn="ctr">
                <a:lnSpc>
                  <a:spcPts val="3779"/>
                </a:lnSpc>
              </a:pPr>
              <a:r>
                <a:rPr lang="en-US" b="true" sz="2699" spc="272">
                  <a:solidFill>
                    <a:srgbClr val="012B1B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03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675080" y="6938983"/>
            <a:ext cx="54230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none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3000">
                <a:solidFill>
                  <a:srgbClr val="FFFFFF"/>
                </a:solidFill>
                <a:latin typeface="Aileron"/>
              </a:rPr>
              <a:t>Love in Different Contexts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93006" y="5063595"/>
            <a:ext cx="7945506" cy="1282714"/>
            <a:chOff x="0" y="0"/>
            <a:chExt cx="812800" cy="1312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131218"/>
            </a:xfrm>
            <a:custGeom>
              <a:avLst/>
              <a:gdLst/>
              <a:ahLst/>
              <a:cxnLst/>
              <a:rect r="r" b="b" t="t" l="l"/>
              <a:pathLst>
                <a:path h="1312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1218"/>
                  </a:lnTo>
                  <a:lnTo>
                    <a:pt x="0" y="131218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812800" cy="15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93006" y="5063595"/>
            <a:ext cx="1257283" cy="1282714"/>
            <a:chOff x="0" y="0"/>
            <a:chExt cx="1309640" cy="13361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09640" cy="1336129"/>
            </a:xfrm>
            <a:custGeom>
              <a:avLst/>
              <a:gdLst/>
              <a:ahLst/>
              <a:cxnLst/>
              <a:rect r="r" b="b" t="t" l="l"/>
              <a:pathLst>
                <a:path h="1336129" w="1309640">
                  <a:moveTo>
                    <a:pt x="0" y="0"/>
                  </a:moveTo>
                  <a:lnTo>
                    <a:pt x="1309640" y="0"/>
                  </a:lnTo>
                  <a:lnTo>
                    <a:pt x="1309640" y="1336129"/>
                  </a:lnTo>
                  <a:lnTo>
                    <a:pt x="0" y="1336129"/>
                  </a:lnTo>
                  <a:close/>
                </a:path>
              </a:pathLst>
            </a:custGeom>
            <a:solidFill>
              <a:srgbClr val="29C97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309640" cy="1383754"/>
            </a:xfrm>
            <a:prstGeom prst="rect">
              <a:avLst/>
            </a:prstGeom>
          </p:spPr>
          <p:txBody>
            <a:bodyPr anchor="ctr" rtlCol="false" tIns="54971" lIns="54971" bIns="54971" rIns="54971"/>
            <a:lstStyle/>
            <a:p>
              <a:pPr algn="ctr">
                <a:lnSpc>
                  <a:spcPts val="3779"/>
                </a:lnSpc>
              </a:pPr>
              <a:r>
                <a:rPr lang="en-US" b="true" sz="2699" spc="272">
                  <a:solidFill>
                    <a:srgbClr val="012B1B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05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939385" y="5466827"/>
            <a:ext cx="54230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none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3000">
                <a:solidFill>
                  <a:srgbClr val="FFFFFF"/>
                </a:solidFill>
                <a:latin typeface="Aileron"/>
              </a:rPr>
              <a:t>The Science of Maintaining Love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93006" y="6536809"/>
            <a:ext cx="7945506" cy="1282714"/>
            <a:chOff x="0" y="0"/>
            <a:chExt cx="812800" cy="1312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131218"/>
            </a:xfrm>
            <a:custGeom>
              <a:avLst/>
              <a:gdLst/>
              <a:ahLst/>
              <a:cxnLst/>
              <a:rect r="r" b="b" t="t" l="l"/>
              <a:pathLst>
                <a:path h="1312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1218"/>
                  </a:lnTo>
                  <a:lnTo>
                    <a:pt x="0" y="131218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812800" cy="15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93006" y="6536809"/>
            <a:ext cx="1257283" cy="1281656"/>
            <a:chOff x="0" y="0"/>
            <a:chExt cx="1309640" cy="133502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09640" cy="1335027"/>
            </a:xfrm>
            <a:custGeom>
              <a:avLst/>
              <a:gdLst/>
              <a:ahLst/>
              <a:cxnLst/>
              <a:rect r="r" b="b" t="t" l="l"/>
              <a:pathLst>
                <a:path h="1335027" w="1309640">
                  <a:moveTo>
                    <a:pt x="0" y="0"/>
                  </a:moveTo>
                  <a:lnTo>
                    <a:pt x="1309640" y="0"/>
                  </a:lnTo>
                  <a:lnTo>
                    <a:pt x="1309640" y="1335027"/>
                  </a:lnTo>
                  <a:lnTo>
                    <a:pt x="0" y="1335027"/>
                  </a:lnTo>
                  <a:close/>
                </a:path>
              </a:pathLst>
            </a:custGeom>
            <a:solidFill>
              <a:srgbClr val="29C978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309640" cy="1382652"/>
            </a:xfrm>
            <a:prstGeom prst="rect">
              <a:avLst/>
            </a:prstGeom>
          </p:spPr>
          <p:txBody>
            <a:bodyPr anchor="ctr" rtlCol="false" tIns="54971" lIns="54971" bIns="54971" rIns="54971"/>
            <a:lstStyle/>
            <a:p>
              <a:pPr algn="ctr">
                <a:lnSpc>
                  <a:spcPts val="3779"/>
                </a:lnSpc>
              </a:pPr>
              <a:r>
                <a:rPr lang="en-US" b="true" sz="2699" spc="272">
                  <a:solidFill>
                    <a:srgbClr val="012B1B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06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939385" y="6940041"/>
            <a:ext cx="54230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none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3000">
                <a:solidFill>
                  <a:srgbClr val="FFFFFF"/>
                </a:solidFill>
                <a:latin typeface="Aileron"/>
              </a:rPr>
              <a:t>Cultural Perspectives on Love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267575" y="3591439"/>
            <a:ext cx="1282714" cy="1282714"/>
            <a:chOff x="0" y="0"/>
            <a:chExt cx="1336129" cy="13361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36129" cy="1336129"/>
            </a:xfrm>
            <a:custGeom>
              <a:avLst/>
              <a:gdLst/>
              <a:ahLst/>
              <a:cxnLst/>
              <a:rect r="r" b="b" t="t" l="l"/>
              <a:pathLst>
                <a:path h="1336129" w="1336129">
                  <a:moveTo>
                    <a:pt x="0" y="0"/>
                  </a:moveTo>
                  <a:lnTo>
                    <a:pt x="1336129" y="0"/>
                  </a:lnTo>
                  <a:lnTo>
                    <a:pt x="1336129" y="1336129"/>
                  </a:lnTo>
                  <a:lnTo>
                    <a:pt x="0" y="1336129"/>
                  </a:lnTo>
                  <a:close/>
                </a:path>
              </a:pathLst>
            </a:custGeom>
            <a:solidFill>
              <a:srgbClr val="29C978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336129" cy="1383754"/>
            </a:xfrm>
            <a:prstGeom prst="rect">
              <a:avLst/>
            </a:prstGeom>
          </p:spPr>
          <p:txBody>
            <a:bodyPr anchor="ctr" rtlCol="false" tIns="54971" lIns="54971" bIns="54971" rIns="54971"/>
            <a:lstStyle/>
            <a:p>
              <a:pPr algn="ctr">
                <a:lnSpc>
                  <a:spcPts val="3779"/>
                </a:lnSpc>
              </a:pPr>
              <a:r>
                <a:rPr lang="en-US" b="true" sz="2699" spc="272">
                  <a:solidFill>
                    <a:srgbClr val="012B1B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85237"/>
            <a:ext cx="7108847" cy="243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8599" b="1">
                <a:solidFill>
                  <a:srgbClr val="B9F1D1"/>
                </a:solidFill>
                <a:latin typeface="Decalotype Bold"/>
              </a:rPr>
              <a:t>Introduction to Love</a:t>
            </a:r>
          </a:p>
          <a:p>
            <a:pPr algn="l">
              <a:lnSpc>
                <a:spcPts val="9459"/>
              </a:lnSpc>
            </a:pPr>
            <a:r>
              <a:rPr lang="en-US" sz="8599" spc="-206" b="true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7058" t="0" r="-2303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239967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66160" y="3406775"/>
            <a:ext cx="51603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3999" b="1">
                <a:solidFill>
                  <a:srgbClr val="012B1B"/>
                </a:solidFill>
                <a:latin typeface="Aileron Bold"/>
              </a:rPr>
              <a:t>Distinguishing Love from Liking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66160" y="4910774"/>
            <a:ext cx="533971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012B1B"/>
                </a:solidFill>
                <a:latin typeface="Aileron"/>
              </a:rPr>
              <a:t>While liking involves positive feelings, love adds elements of intimacy, passion, and commitment; Differentiating these helps clarify our understanding of relational bonds.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6230600" cy="8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4999" spc="504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4999" b="1">
                <a:solidFill>
                  <a:srgbClr val="012B1B"/>
                </a:solidFill>
                <a:latin typeface="Aileron Bold"/>
              </a:rPr>
              <a:t>Defining Love: A Multifaceted Emotion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06775"/>
            <a:ext cx="64654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3999" b="1">
                <a:solidFill>
                  <a:srgbClr val="012B1B"/>
                </a:solidFill>
                <a:latin typeface="Aileron Bold"/>
              </a:rPr>
              <a:t>The Spectrum of Love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488" y="4910774"/>
            <a:ext cx="496555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012B1B"/>
                </a:solidFill>
                <a:latin typeface="Aileron"/>
              </a:rPr>
              <a:t>Love encompasses a wide range of emotions, from passionate attraction to deep affection and commitment; It's essential to recognize this spectrum to understand love's complexities.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9591"/>
            <a:ext cx="1464974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05">
                <a:solidFill>
                  <a:srgbClr val="B9F1D1"/>
                </a:solidFill>
                <a:latin typeface="Decalotype"/>
                <a:ea typeface="Decalotype"/>
                <a:cs typeface="Decalotype"/>
                <a:sym typeface="Decalotype"/>
              </a:rPr>
              <a:t/>
            </a:r>
            <a:r>
              <a:rPr sz="5000">
                <a:solidFill>
                  <a:srgbClr val="B9F1D1"/>
                </a:solidFill>
                <a:latin typeface="Decalotype"/>
              </a:rPr>
              <a:t>The Significance of Love in Human Life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01196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FFFFFF"/>
                </a:solidFill>
                <a:latin typeface="Aileron"/>
              </a:rPr>
              <a:t>Evolutionary psychology suggests the need for love is hardwired into our brains, impacting our well-being and survival; Attachment theory highlights its role in security and development.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26694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FFFFFF"/>
                </a:solidFill>
                <a:latin typeface="Aileron"/>
              </a:rPr>
              <a:t>Studies show that fulfilling, loving relationships are linked to better physical health; Emotional well-being improves significantly when people experience love and support.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-43634" r="-19457" b="-355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167623"/>
            <a:ext cx="1106181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3999" b="1">
                <a:solidFill>
                  <a:srgbClr val="B9F1D1"/>
                </a:solidFill>
                <a:latin typeface="Decalotype Bold"/>
              </a:rPr>
              <a:t>Love as a Basic Human Need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90094"/>
            <a:ext cx="696981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3999" b="1">
                <a:solidFill>
                  <a:srgbClr val="B9F1D1"/>
                </a:solidFill>
                <a:latin typeface="Decalotype Bold"/>
              </a:rPr>
              <a:t>Impact of Love on Health and Happiness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9C9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6556" y="2722245"/>
            <a:ext cx="10858482" cy="55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b="true" sz="3899" spc="-93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THE ROLE OF LEADERSHIP IN CRISIS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682782" y="4168420"/>
            <a:ext cx="4250831" cy="472377"/>
            <a:chOff x="0" y="0"/>
            <a:chExt cx="3949753" cy="438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49753" cy="438920"/>
            </a:xfrm>
            <a:custGeom>
              <a:avLst/>
              <a:gdLst/>
              <a:ahLst/>
              <a:cxnLst/>
              <a:rect r="r" b="b" t="t" l="l"/>
              <a:pathLst>
                <a:path h="438920" w="3949753">
                  <a:moveTo>
                    <a:pt x="0" y="0"/>
                  </a:moveTo>
                  <a:lnTo>
                    <a:pt x="3949753" y="0"/>
                  </a:lnTo>
                  <a:lnTo>
                    <a:pt x="3949753" y="438920"/>
                  </a:lnTo>
                  <a:lnTo>
                    <a:pt x="0" y="438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8240375" y="0"/>
            <a:ext cx="47625" cy="10287000"/>
            <a:chOff x="0" y="0"/>
            <a:chExt cx="1254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5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46556" y="3676650"/>
            <a:ext cx="6782776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Highlight the critical role leaders play in stabilizing organizations during crises and periods of uncertainty. Leaders provide direction and instill confidence.</a:t>
            </a:r>
          </a:p>
          <a:p>
            <a:pPr algn="l">
              <a:lnSpc>
                <a:spcPts val="29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46556" y="7273287"/>
            <a:ext cx="6955124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Outline how uncertainty, when managed effectively, can be a catalyst for innovation and positive change. This can lead to new opportunities.</a:t>
            </a:r>
          </a:p>
          <a:p>
            <a:pPr algn="l">
              <a:lnSpc>
                <a:spcPts val="29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46556" y="6305550"/>
            <a:ext cx="1268439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THE OPPORTUNITY FOR TRANSFORMATION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5490" y="537951"/>
            <a:ext cx="17734885" cy="102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9"/>
              </a:lnSpc>
            </a:pPr>
            <a:r>
              <a:rPr lang="en-US" b="true" sz="7108" spc="-170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Why Leadership Matters More Than Ever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85237"/>
            <a:ext cx="7108847" cy="363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lang="en-US" sz="8599" spc="-206" b="true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8599" b="1">
                <a:solidFill>
                  <a:srgbClr val="B9F1D1"/>
                </a:solidFill>
                <a:latin typeface="Decalotype Bold"/>
              </a:rPr>
              <a:t>The Psychology of Love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7058" t="0" r="-2303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239967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66160" y="3406775"/>
            <a:ext cx="51603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3999" b="1">
                <a:solidFill>
                  <a:srgbClr val="012B1B"/>
                </a:solidFill>
                <a:latin typeface="Aileron Bold"/>
              </a:rPr>
              <a:t>Adult Attachment Styles in Relationships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66160" y="4910774"/>
            <a:ext cx="533971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012B1B"/>
                </a:solidFill>
                <a:latin typeface="Aileron"/>
              </a:rPr>
              <a:t>Securely attached individuals tend to have healthier, more stable relationships; Insecure attachments can lead to conflict and dissatisfaction.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6230600" cy="8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4999" spc="504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4999" b="1">
                <a:solidFill>
                  <a:srgbClr val="012B1B"/>
                </a:solidFill>
                <a:latin typeface="Aileron Bold"/>
              </a:rPr>
              <a:t>Attachment Theory and Love Styles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06775"/>
            <a:ext cx="64654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3999" b="1">
                <a:solidFill>
                  <a:srgbClr val="012B1B"/>
                </a:solidFill>
                <a:latin typeface="Aileron Bold"/>
              </a:rPr>
              <a:t>Early Childhood's Influence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488" y="4910774"/>
            <a:ext cx="496555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012B1B"/>
                </a:solidFill>
                <a:latin typeface="Aileron"/>
              </a:rPr>
              <a:t>Attachment styles formed in childhood (secure, anxious, avoidant) affect our approach to love and relationships; Understanding these patterns can improve relationship dynamics.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9591"/>
            <a:ext cx="1464974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05">
                <a:solidFill>
                  <a:srgbClr val="B9F1D1"/>
                </a:solidFill>
                <a:latin typeface="Decalotype"/>
                <a:ea typeface="Decalotype"/>
                <a:cs typeface="Decalotype"/>
                <a:sym typeface="Decalotype"/>
              </a:rPr>
              <a:t/>
            </a:r>
            <a:r>
              <a:rPr sz="5000">
                <a:solidFill>
                  <a:srgbClr val="B9F1D1"/>
                </a:solidFill>
                <a:latin typeface="Decalotype"/>
              </a:rPr>
              <a:t>The Neurochemistry of Love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01196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FFFFFF"/>
                </a:solidFill>
                <a:latin typeface="Aileron"/>
              </a:rPr>
              <a:t>Love triggers the release of hormones like dopamine, oxytocin, and serotonin, creating pleasurable sensations; These chemical processes drive attraction, bonding, and attachment.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26694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FFFFFF"/>
                </a:solidFill>
                <a:latin typeface="Aileron"/>
              </a:rPr>
              <a:t>Brain imaging studies reveal that love activates specific regions associated with reward, motivation, and emotion regulation; Romantic love shares neural pathways with addiction.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-43634" r="-19457" b="-355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167623"/>
            <a:ext cx="1106181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3999" b="1">
                <a:solidFill>
                  <a:srgbClr val="B9F1D1"/>
                </a:solidFill>
                <a:latin typeface="Decalotype Bold"/>
              </a:rPr>
              <a:t>Hormones and Neurotransmitters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90094"/>
            <a:ext cx="696981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3999" b="1">
                <a:solidFill>
                  <a:srgbClr val="B9F1D1"/>
                </a:solidFill>
                <a:latin typeface="Decalotype Bold"/>
              </a:rPr>
              <a:t>The Brain's Response to Love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85237"/>
            <a:ext cx="7108847" cy="363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lang="en-US" sz="8599" spc="-206" b="true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8599" b="1">
                <a:solidFill>
                  <a:srgbClr val="B9F1D1"/>
                </a:solidFill>
                <a:latin typeface="Decalotype Bold"/>
              </a:rPr>
              <a:t>The Art of Expressing Love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7058" t="0" r="-2303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239967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66160" y="3406775"/>
            <a:ext cx="51603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3999" b="1">
                <a:solidFill>
                  <a:srgbClr val="012B1B"/>
                </a:solidFill>
                <a:latin typeface="Aileron Bold"/>
              </a:rPr>
              <a:t>Matching Love Languages in Relationships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66160" y="4910774"/>
            <a:ext cx="533971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012B1B"/>
                </a:solidFill>
                <a:latin typeface="Aileron"/>
              </a:rPr>
              <a:t>When partners understand and cater to each other's love languages, relationships become more fulfilling; Misunderstandings can be avoided through thoughtful communication.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6230600" cy="8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4999" spc="504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4999" b="1">
                <a:solidFill>
                  <a:srgbClr val="012B1B"/>
                </a:solidFill>
                <a:latin typeface="Aileron Bold"/>
              </a:rPr>
              <a:t>Understanding Love Languages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06775"/>
            <a:ext cx="64654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3999" b="1">
                <a:solidFill>
                  <a:srgbClr val="012B1B"/>
                </a:solidFill>
                <a:latin typeface="Aileron Bold"/>
              </a:rPr>
              <a:t>The Five Love Languages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488" y="4910774"/>
            <a:ext cx="496555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012B1B"/>
                </a:solidFill>
                <a:latin typeface="Aileron"/>
              </a:rPr>
              <a:t>People express and receive love differently through words of affirmation, acts of service, gifts, quality time, and physical touch; Recognizing these languages enhances communication.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9591"/>
            <a:ext cx="1464974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05">
                <a:solidFill>
                  <a:srgbClr val="B9F1D1"/>
                </a:solidFill>
                <a:latin typeface="Decalotype"/>
                <a:ea typeface="Decalotype"/>
                <a:cs typeface="Decalotype"/>
                <a:sym typeface="Decalotype"/>
              </a:rPr>
              <a:t/>
            </a:r>
            <a:r>
              <a:rPr sz="5000">
                <a:solidFill>
                  <a:srgbClr val="B9F1D1"/>
                </a:solidFill>
                <a:latin typeface="Decalotype"/>
              </a:rPr>
              <a:t>Effective Communication in Love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01196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FFFFFF"/>
                </a:solidFill>
                <a:latin typeface="Aileron"/>
              </a:rPr>
              <a:t>Honest, open communication is the cornerstone of any healthy relationship; It fosters trust, understanding, and emotional intimacy.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26694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FFFFFF"/>
                </a:solidFill>
                <a:latin typeface="Aileron"/>
              </a:rPr>
              <a:t>Listening actively is crucial for understanding your partner's perspective and feelings; Empathy allows you to connect on a deeper emotional level.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-43634" r="-19457" b="-355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167623"/>
            <a:ext cx="1106181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3999" b="1">
                <a:solidFill>
                  <a:srgbClr val="B9F1D1"/>
                </a:solidFill>
                <a:latin typeface="Decalotype Bold"/>
              </a:rPr>
              <a:t>Importance of Open Dialogue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90094"/>
            <a:ext cx="696981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3999" b="1">
                <a:solidFill>
                  <a:srgbClr val="B9F1D1"/>
                </a:solidFill>
                <a:latin typeface="Decalotype Bold"/>
              </a:rPr>
              <a:t>Active Listening and Empathy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85237"/>
            <a:ext cx="7108847" cy="363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lang="en-US" sz="8599" spc="-206" b="true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8599" b="1">
                <a:solidFill>
                  <a:srgbClr val="B9F1D1"/>
                </a:solidFill>
                <a:latin typeface="Decalotype Bold"/>
              </a:rPr>
              <a:t>The Science of Maintaining Love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7058" t="0" r="-2303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239967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66160" y="3406775"/>
            <a:ext cx="51603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3999" b="1">
                <a:solidFill>
                  <a:srgbClr val="012B1B"/>
                </a:solidFill>
                <a:latin typeface="Aileron Bold"/>
              </a:rPr>
              <a:t>Maintaining Connection Over Time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66160" y="4910774"/>
            <a:ext cx="533971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012B1B"/>
                </a:solidFill>
                <a:latin typeface="Aileron"/>
              </a:rPr>
              <a:t>Couples who prioritize spending quality time together, maintain shared interests, and support each other's personal growth are more likely to stay connected.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6230600" cy="8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4999" spc="504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4999" b="1">
                <a:solidFill>
                  <a:srgbClr val="012B1B"/>
                </a:solidFill>
                <a:latin typeface="Aileron Bold"/>
              </a:rPr>
              <a:t>Commitment and Relationship Satisfaction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06775"/>
            <a:ext cx="64654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3999" b="1">
                <a:solidFill>
                  <a:srgbClr val="012B1B"/>
                </a:solidFill>
                <a:latin typeface="Aileron Bold"/>
              </a:rPr>
              <a:t>The Role of Commitment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488" y="4910774"/>
            <a:ext cx="496555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012B1B"/>
                </a:solidFill>
                <a:latin typeface="Aileron"/>
              </a:rPr>
              <a:t>Commitment involves a conscious decision to stay with your partner through thick and thin; It's a key predictor of long-term relationship success.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9591"/>
            <a:ext cx="1464974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05">
                <a:solidFill>
                  <a:srgbClr val="B9F1D1"/>
                </a:solidFill>
                <a:latin typeface="Decalotype"/>
                <a:ea typeface="Decalotype"/>
                <a:cs typeface="Decalotype"/>
                <a:sym typeface="Decalotype"/>
              </a:rPr>
              <a:t/>
            </a:r>
            <a:r>
              <a:rPr sz="5000">
                <a:solidFill>
                  <a:srgbClr val="B9F1D1"/>
                </a:solidFill>
                <a:latin typeface="Decalotype"/>
              </a:rPr>
              <a:t>Navigating Challenges in Love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01196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FFFFFF"/>
                </a:solidFill>
                <a:latin typeface="Aileron"/>
              </a:rPr>
              <a:t>Conflict is inevitable in any relationship, but how you handle it matters; Effective strategies include compromise, negotiation, and seeking common ground.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26694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FFFFFF"/>
                </a:solidFill>
                <a:latin typeface="Aileron"/>
              </a:rPr>
              <a:t>Forgiveness is essential for moving past hurts and rebuilding trust; It takes time and effort, but it's crucial for maintaining a healthy relationship.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-43634" r="-19457" b="-355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167623"/>
            <a:ext cx="1106181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3999" b="1">
                <a:solidFill>
                  <a:srgbClr val="B9F1D1"/>
                </a:solidFill>
                <a:latin typeface="Decalotype Bold"/>
              </a:rPr>
              <a:t>Conflict Resolution Techniques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90094"/>
            <a:ext cx="696981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3999" b="1">
                <a:solidFill>
                  <a:srgbClr val="B9F1D1"/>
                </a:solidFill>
                <a:latin typeface="Decalotype Bold"/>
              </a:rPr>
              <a:t>Forgiveness and Healing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85237"/>
            <a:ext cx="7108847" cy="363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lang="en-US" sz="8599" spc="-206" b="true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8599" b="1">
                <a:solidFill>
                  <a:srgbClr val="B9F1D1"/>
                </a:solidFill>
                <a:latin typeface="Decalotype Bold"/>
              </a:rPr>
              <a:t>Love in Different Contexts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7058" t="0" r="-2303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239967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66160" y="3406775"/>
            <a:ext cx="51603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3999" b="1">
                <a:solidFill>
                  <a:srgbClr val="012B1B"/>
                </a:solidFill>
                <a:latin typeface="Aileron Bold"/>
              </a:rPr>
              <a:t>Nurturing Family Relationships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66160" y="4910774"/>
            <a:ext cx="533971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012B1B"/>
                </a:solidFill>
                <a:latin typeface="Aileron"/>
              </a:rPr>
              <a:t>Spending quality time together, showing appreciation, and practicing empathy are key to strengthening family bonds; Navigating conflicts constructively is also important.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6230600" cy="8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4999" spc="504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4999" b="1">
                <a:solidFill>
                  <a:srgbClr val="012B1B"/>
                </a:solidFill>
                <a:latin typeface="Aileron Bold"/>
              </a:rPr>
              <a:t>Familial Love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06775"/>
            <a:ext cx="64654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3999" b="1">
                <a:solidFill>
                  <a:srgbClr val="012B1B"/>
                </a:solidFill>
                <a:latin typeface="Aileron Bold"/>
              </a:rPr>
              <a:t>The Bonds of Family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488" y="4910774"/>
            <a:ext cx="496555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012B1B"/>
                </a:solidFill>
                <a:latin typeface="Aileron"/>
              </a:rPr>
              <a:t>Familial love provides a foundation of support, security, and belonging; It influences our development and shapes our values.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9591"/>
            <a:ext cx="1464974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05">
                <a:solidFill>
                  <a:srgbClr val="B9F1D1"/>
                </a:solidFill>
                <a:latin typeface="Decalotype"/>
                <a:ea typeface="Decalotype"/>
                <a:cs typeface="Decalotype"/>
                <a:sym typeface="Decalotype"/>
              </a:rPr>
              <a:t/>
            </a:r>
            <a:r>
              <a:rPr sz="5000">
                <a:solidFill>
                  <a:srgbClr val="B9F1D1"/>
                </a:solidFill>
                <a:latin typeface="Decalotype"/>
              </a:rPr>
              <a:t>Platonic Love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01196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FFFFFF"/>
                </a:solidFill>
                <a:latin typeface="Aileron"/>
              </a:rPr>
              <a:t>Platonic love offers emotional support, companionship, and shared experiences without romantic or sexual attraction.; It is often underestimated.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26694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FFFFFF"/>
                </a:solidFill>
                <a:latin typeface="Aileron"/>
              </a:rPr>
              <a:t>Respecting boundaries, being reliable, and communicating openly are essential for successful platonic relationships; Friendships enrich our lives and provide valuable support.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-43634" r="-19457" b="-355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167623"/>
            <a:ext cx="1106181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3999" b="1">
                <a:solidFill>
                  <a:srgbClr val="B9F1D1"/>
                </a:solidFill>
                <a:latin typeface="Decalotype Bold"/>
              </a:rPr>
              <a:t>The Value of Friendship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90094"/>
            <a:ext cx="696981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3999" b="1">
                <a:solidFill>
                  <a:srgbClr val="B9F1D1"/>
                </a:solidFill>
                <a:latin typeface="Decalotype Bold"/>
              </a:rPr>
              <a:t>Maintaining Healthy Friendships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85237"/>
            <a:ext cx="7108847" cy="363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lang="en-US" sz="8599" spc="-206" b="true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8599" b="1">
                <a:solidFill>
                  <a:srgbClr val="B9F1D1"/>
                </a:solidFill>
                <a:latin typeface="Decalotype Bold"/>
              </a:rPr>
              <a:t>Cultural Perspectives on Love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7058" t="0" r="-2303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239967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06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66160" y="3406775"/>
            <a:ext cx="51603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3999" b="1">
                <a:solidFill>
                  <a:srgbClr val="012B1B"/>
                </a:solidFill>
                <a:latin typeface="Aileron Bold"/>
              </a:rPr>
              <a:t>Marriage and Relationships in Different Societies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66160" y="4910774"/>
            <a:ext cx="533971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012B1B"/>
                </a:solidFill>
                <a:latin typeface="Aileron"/>
              </a:rPr>
              <a:t>Cultural norms influence marriage practices, relationship expectations, and gender roles; The concept of romantic love varies across cultures too.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6230600" cy="8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4999" spc="504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4999" b="1">
                <a:solidFill>
                  <a:srgbClr val="012B1B"/>
                </a:solidFill>
                <a:latin typeface="Aileron Bold"/>
              </a:rPr>
              <a:t>Love Across Cultures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06775"/>
            <a:ext cx="64654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/>
            </a:r>
            <a:r>
              <a:rPr sz="3999" b="1">
                <a:solidFill>
                  <a:srgbClr val="012B1B"/>
                </a:solidFill>
                <a:latin typeface="Aileron Bold"/>
              </a:rPr>
              <a:t>Variations in Expressions of Love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488" y="4910774"/>
            <a:ext cx="496555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012B1B"/>
                </a:solidFill>
                <a:latin typeface="Aileron"/>
              </a:rPr>
              <a:t>Cultures differ in how they express and value love; Understanding these variations broadens our perspective on relational dynamics.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9591"/>
            <a:ext cx="1464974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05">
                <a:solidFill>
                  <a:srgbClr val="B9F1D1"/>
                </a:solidFill>
                <a:latin typeface="Decalotype"/>
                <a:ea typeface="Decalotype"/>
                <a:cs typeface="Decalotype"/>
                <a:sym typeface="Decalotype"/>
              </a:rPr>
              <a:t/>
            </a:r>
            <a:r>
              <a:rPr sz="5000">
                <a:solidFill>
                  <a:srgbClr val="B9F1D1"/>
                </a:solidFill>
                <a:latin typeface="Decalotype"/>
              </a:rPr>
              <a:t>The Evolution of Love in Modern Society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01196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FFFFFF"/>
                </a:solidFill>
                <a:latin typeface="Aileron"/>
              </a:rPr>
              <a:t>Online dating, social media, and instant communication have transformed how we find and maintain relationships; The influence can be both positive and negative.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26694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/>
            </a:r>
            <a:r>
              <a:rPr sz="2000">
                <a:solidFill>
                  <a:srgbClr val="FFFFFF"/>
                </a:solidFill>
                <a:latin typeface="Aileron"/>
              </a:rPr>
              <a:t>Traditional relationship models are evolving, with increasing acceptance of diverse relationship structures; Discussions about topics like monogamy and cohabitation are gaining traction.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-43634" r="-19457" b="-355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167623"/>
            <a:ext cx="1106181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3999" b="1">
                <a:solidFill>
                  <a:srgbClr val="B9F1D1"/>
                </a:solidFill>
                <a:latin typeface="Decalotype Bold"/>
              </a:rPr>
              <a:t>Technology's Impact on Love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90094"/>
            <a:ext cx="696981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/>
            </a:r>
            <a:r>
              <a:rPr sz="3999" b="1">
                <a:solidFill>
                  <a:srgbClr val="B9F1D1"/>
                </a:solidFill>
                <a:latin typeface="Decalotype Bold"/>
              </a:rPr>
              <a:t>Shifting Relationship Norms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DAG5Ic_1yac</dc:identifier>
  <dcterms:modified xsi:type="dcterms:W3CDTF">2011-08-01T06:04:30Z</dcterms:modified>
  <cp:revision>1</cp:revision>
  <dc:title>Background</dc:title>
</cp:coreProperties>
</file>